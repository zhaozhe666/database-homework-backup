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34980b53af41c3" /><Relationship Type="http://schemas.openxmlformats.org/officeDocument/2006/relationships/extended-properties" Target="/docProps/app.xml" Id="R16fc09029e344d3e" /><Relationship Type="http://schemas.openxmlformats.org/officeDocument/2006/relationships/officeDocument" Target="/ppt/presentation.xml" Id="R54c9024760af47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e0708b58714e2a"/>
  </p:sldMasterIdLst>
  <p:notesMasterIdLst>
    <p:notesMasterId xmlns:r="http://schemas.openxmlformats.org/officeDocument/2006/relationships" r:id="Rae77677f8df14742"/>
  </p:notesMasterIdLst>
  <p:sldIdLst>
    <p:sldId xmlns:r="http://schemas.openxmlformats.org/officeDocument/2006/relationships" id="256" r:id="R894f80009e8947e7"/>
    <p:sldId xmlns:r="http://schemas.openxmlformats.org/officeDocument/2006/relationships" id="257" r:id="Rde1cf4ea9f294dc8"/>
    <p:sldId xmlns:r="http://schemas.openxmlformats.org/officeDocument/2006/relationships" id="258" r:id="R8be0ca93df2b4f3c"/>
    <p:sldId xmlns:r="http://schemas.openxmlformats.org/officeDocument/2006/relationships" id="259" r:id="Rf74ebb9d9e91450d"/>
    <p:sldId xmlns:r="http://schemas.openxmlformats.org/officeDocument/2006/relationships" id="260" r:id="R1a2ed7836e2949db"/>
    <p:sldId xmlns:r="http://schemas.openxmlformats.org/officeDocument/2006/relationships" id="261" r:id="Rcd0a07f7f5c343f4"/>
    <p:sldId xmlns:r="http://schemas.openxmlformats.org/officeDocument/2006/relationships" id="262" r:id="Re9dec9c10a724e37"/>
    <p:sldId xmlns:r="http://schemas.openxmlformats.org/officeDocument/2006/relationships" id="263" r:id="R74896214c4704c28"/>
    <p:sldId xmlns:r="http://schemas.openxmlformats.org/officeDocument/2006/relationships" id="264" r:id="R7e212ce904f74dd7"/>
    <p:sldId xmlns:r="http://schemas.openxmlformats.org/officeDocument/2006/relationships" id="265" r:id="R26b7011d04464583"/>
    <p:sldId xmlns:r="http://schemas.openxmlformats.org/officeDocument/2006/relationships" id="266" r:id="R2d9208c785e7443a"/>
    <p:sldId xmlns:r="http://schemas.openxmlformats.org/officeDocument/2006/relationships" id="267" r:id="R93cd092d8e7547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0708b58714e2a" /><Relationship Type="http://schemas.openxmlformats.org/officeDocument/2006/relationships/theme" Target="/ppt/theme/theme1.xml" Id="R7d8f48eb3a054b4d" /><Relationship Type="http://schemas.openxmlformats.org/officeDocument/2006/relationships/notesMaster" Target="/ppt/notesMasters/notesMaster1.xml" Id="Rae77677f8df14742" /><Relationship Type="http://schemas.openxmlformats.org/officeDocument/2006/relationships/presProps" Target="/ppt/presProps.xml" Id="R0be8c112c8fa474b" /><Relationship Type="http://schemas.openxmlformats.org/officeDocument/2006/relationships/viewProps" Target="/ppt/viewProps.xml" Id="R649d105f17d74536" /><Relationship Type="http://schemas.openxmlformats.org/officeDocument/2006/relationships/tableStyles" Target="/ppt/tableStyles.xml" Id="Rab3849fced534a94" /><Relationship Type="http://schemas.openxmlformats.org/officeDocument/2006/relationships/slide" Target="/ppt/slides/slide1.xml" Id="R894f80009e8947e7" /><Relationship Type="http://schemas.openxmlformats.org/officeDocument/2006/relationships/slide" Target="/ppt/slides/slide2.xml" Id="Rde1cf4ea9f294dc8" /><Relationship Type="http://schemas.openxmlformats.org/officeDocument/2006/relationships/slide" Target="/ppt/slides/slide3.xml" Id="R8be0ca93df2b4f3c" /><Relationship Type="http://schemas.openxmlformats.org/officeDocument/2006/relationships/slide" Target="/ppt/slides/slide4.xml" Id="Rf74ebb9d9e91450d" /><Relationship Type="http://schemas.openxmlformats.org/officeDocument/2006/relationships/slide" Target="/ppt/slides/slide5.xml" Id="R1a2ed7836e2949db" /><Relationship Type="http://schemas.openxmlformats.org/officeDocument/2006/relationships/slide" Target="/ppt/slides/slide6.xml" Id="Rcd0a07f7f5c343f4" /><Relationship Type="http://schemas.openxmlformats.org/officeDocument/2006/relationships/slide" Target="/ppt/slides/slide7.xml" Id="Re9dec9c10a724e37" /><Relationship Type="http://schemas.openxmlformats.org/officeDocument/2006/relationships/slide" Target="/ppt/slides/slide8.xml" Id="R74896214c4704c28" /><Relationship Type="http://schemas.openxmlformats.org/officeDocument/2006/relationships/slide" Target="/ppt/slides/slide9.xml" Id="R7e212ce904f74dd7" /><Relationship Type="http://schemas.openxmlformats.org/officeDocument/2006/relationships/slide" Target="/ppt/slides/slide10.xml" Id="R26b7011d04464583" /><Relationship Type="http://schemas.openxmlformats.org/officeDocument/2006/relationships/slide" Target="/ppt/slides/slide11.xml" Id="R2d9208c785e7443a" /><Relationship Type="http://schemas.openxmlformats.org/officeDocument/2006/relationships/slide" Target="/ppt/slides/slide12.xml" Id="R93cd092d8e7547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e8c0909ec54a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7c4009d8df412b" /><Relationship Type="http://schemas.openxmlformats.org/officeDocument/2006/relationships/notesMaster" Target="/ppt/notesMasters/notesMaster1.xml" Id="R486b70ee94d746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282c5226f94c6a" /><Relationship Type="http://schemas.openxmlformats.org/officeDocument/2006/relationships/notesMaster" Target="/ppt/notesMasters/notesMaster1.xml" Id="R16de7cc7bfd04e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273dfb877b4fe6" /><Relationship Type="http://schemas.openxmlformats.org/officeDocument/2006/relationships/notesMaster" Target="/ppt/notesMasters/notesMaster1.xml" Id="Rf6b609596ee44b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2e33be30704704" /><Relationship Type="http://schemas.openxmlformats.org/officeDocument/2006/relationships/notesMaster" Target="/ppt/notesMasters/notesMaster1.xml" Id="R0fbdc214f4a545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91c38570f24e6c" /><Relationship Type="http://schemas.openxmlformats.org/officeDocument/2006/relationships/notesMaster" Target="/ppt/notesMasters/notesMaster1.xml" Id="R947eb8a797884a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404434440442a7" /><Relationship Type="http://schemas.openxmlformats.org/officeDocument/2006/relationships/notesMaster" Target="/ppt/notesMasters/notesMaster1.xml" Id="R30cabe0a724149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0f8ca47da74a08" /><Relationship Type="http://schemas.openxmlformats.org/officeDocument/2006/relationships/notesMaster" Target="/ppt/notesMasters/notesMaster1.xml" Id="R9907d4870c9847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061a963fef456e" /><Relationship Type="http://schemas.openxmlformats.org/officeDocument/2006/relationships/notesMaster" Target="/ppt/notesMasters/notesMaster1.xml" Id="R071e952cff9145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94fe90696d47f5" /><Relationship Type="http://schemas.openxmlformats.org/officeDocument/2006/relationships/notesMaster" Target="/ppt/notesMasters/notesMaster1.xml" Id="R582faddc882341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9c47f023114459" /><Relationship Type="http://schemas.openxmlformats.org/officeDocument/2006/relationships/notesMaster" Target="/ppt/notesMasters/notesMaster1.xml" Id="R555f10a86a1f42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7d71c214674bf5" /><Relationship Type="http://schemas.openxmlformats.org/officeDocument/2006/relationships/notesMaster" Target="/ppt/notesMasters/notesMaster1.xml" Id="Rdd85c93c366048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388e7f377e45fa" /><Relationship Type="http://schemas.openxmlformats.org/officeDocument/2006/relationships/notesMaster" Target="/ppt/notesMasters/notesMaster1.xml" Id="R3498700866434f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b5c211dd5477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028c4a0bf174649" /><Relationship Type="http://schemas.openxmlformats.org/officeDocument/2006/relationships/slideLayout" Target="/ppt/slideLayouts/slideLayout2.xml" Id="R1995aee7ced54d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95aee7ced54d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5df9b0d798473e" /><Relationship Type="http://schemas.openxmlformats.org/officeDocument/2006/relationships/image" Target="/ppt/media/image.png" Id="R6f18b0d013f74e25" /><Relationship Type="http://schemas.openxmlformats.org/officeDocument/2006/relationships/notesSlide" Target="/ppt/notesSlides/notesSlide1.xml" Id="R9d726cf9e61648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eb2fb84ca94b23" /><Relationship Type="http://schemas.openxmlformats.org/officeDocument/2006/relationships/image" Target="/ppt/media/image2.png" Id="R7f868997ecc240b9" /><Relationship Type="http://schemas.openxmlformats.org/officeDocument/2006/relationships/notesSlide" Target="/ppt/notesSlides/notesSlide2.xml" Id="R24dcfabf962c4b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ca436a9d994cb8" /><Relationship Type="http://schemas.openxmlformats.org/officeDocument/2006/relationships/notesSlide" Target="/ppt/notesSlides/notesSlide3.xml" Id="R469cf8d7526049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41d8a5c309451d" /><Relationship Type="http://schemas.openxmlformats.org/officeDocument/2006/relationships/image" Target="/ppt/media/image3.png" Id="Rf3132285e91641b3" /><Relationship Type="http://schemas.openxmlformats.org/officeDocument/2006/relationships/notesSlide" Target="/ppt/notesSlides/notesSlide4.xml" Id="R7f9bea23e62448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49d0911a4e4f18" /><Relationship Type="http://schemas.openxmlformats.org/officeDocument/2006/relationships/notesSlide" Target="/ppt/notesSlides/notesSlide5.xml" Id="R43e2b84bd6e348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58045ace124afc" /><Relationship Type="http://schemas.openxmlformats.org/officeDocument/2006/relationships/notesSlide" Target="/ppt/notesSlides/notesSlide6.xml" Id="R519c845d77e0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9474df774344cd" /><Relationship Type="http://schemas.openxmlformats.org/officeDocument/2006/relationships/notesSlide" Target="/ppt/notesSlides/notesSlide7.xml" Id="R43470f91aad242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6518ada1fe4cf8" /><Relationship Type="http://schemas.openxmlformats.org/officeDocument/2006/relationships/notesSlide" Target="/ppt/notesSlides/notesSlide8.xml" Id="Rda32e0e7041747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2e6388595d4a13" /><Relationship Type="http://schemas.openxmlformats.org/officeDocument/2006/relationships/notesSlide" Target="/ppt/notesSlides/notesSlide9.xml" Id="R1006983c8df04f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420707a41249d2" /><Relationship Type="http://schemas.openxmlformats.org/officeDocument/2006/relationships/notesSlide" Target="/ppt/notesSlides/notesSlide10.xml" Id="R6e277a3b0a754b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6b7a75dd224c6d" /><Relationship Type="http://schemas.openxmlformats.org/officeDocument/2006/relationships/notesSlide" Target="/ppt/notesSlides/notesSlide11.xml" Id="R64aa511dccbb47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eeec217a86457b" /><Relationship Type="http://schemas.openxmlformats.org/officeDocument/2006/relationships/notesSlide" Target="/ppt/notesSlides/notesSlide12.xml" Id="R3c3c986faa1b46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3D053-7C75-4696-B3C9-38A2A773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0A065-21E9-4D75-A4B0-4BBC7459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36A3B-5721-464C-A42F-059DA605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校园二手交易平台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D1625-9082-4749-8DCF-44E8B244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09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9E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9E5"/>
                </a:solidFill>
                <a:latin typeface="Aptos"/>
                <a:ea typeface="Aptos"/>
                <a:cs typeface="Aptos"/>
              </a:rPr>
              <a:t>数据库设计与实现 · 当前代码版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BDC0B-1E74-4327-B76C-35585EF8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FBDE8-8223-42C6-B2E6-D8D4C88C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CC08F-0FC5-4F7E-98A4-572F9EE1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5 张运行表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782FF-DB0D-4E83-B4BA-C46E2971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91175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users / categories / products / orders / 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B5CE8-B797-45DE-9CB3-B6105472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F90C6-9E6B-4F76-A29C-88C00C7B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7A27D-7809-42BE-AECE-0397E00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6732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本地多图上传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4AB9A-2C81-4709-B290-62DE14AA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最多 4 张图，路径存入 products.image_url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F9A79-670E-4C2A-B7FB-DCBA1EBC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76A18-6FA6-4066-B6F1-605DB7F7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9EF17-39AC-440E-AFC8-074439D1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6732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完整交易演示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3F44C-EBAC-4361-96D7-31AA7847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91175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下单、余额支付、确认收货、卖家收款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8b0d013f74e25"/>
          <a:srcRect xmlns:a="http://schemas.openxmlformats.org/drawingml/2006/main" l="5455" t="0" r="5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781050"/>
            <a:ext cx="3333750" cy="2381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77C57-44DE-4AC0-BAA4-D94C79CE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数据库名：secondhand · Flask + MySQL 5.6</a:t>
            </a:r>
          </a:p>
        </p:txBody>
      </p:sp>
    </p:spTree>
    <p:extLst>
      <p:ext uri="{BB962C8B-B14F-4D97-AF65-F5344CB8AC3E}">
        <p14:creationId xmlns:p14="http://schemas.microsoft.com/office/powerpoint/2010/main" val="7044948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A1AD21-5FF2-476F-A9BC-5EF04839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6FDB7-A07A-4228-9CA0-0AFFC09F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1644D-ECFA-4AFA-939A-B831360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01 / 功能范围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834FF-BDC7-447E-B04C-F8FC9F85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当前版本以可运行网站为准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9DE79-FADA-4DD5-B516-F2408230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AF6ED-9FF6-4D5C-9FE9-0AFFEF2E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E0AB2-5F4B-4318-B84F-9D9B2EDC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8B975-019C-4ECE-8E70-5FA50C5E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账号与个人中心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8BDBD-B940-4277-8ACD-FBA1FA0F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注册登录、退出、修改昵称/手机号、修改密码。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0F479-5B35-4BAC-959C-ED38C3DE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4D262-2665-4DF5-917E-47A8191F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9DF52-03F7-44FF-B893-36F02FD3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09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商品发布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96483-D5A6-46C3-ADC8-4206AEF1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33550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本地上传多张图片，保留图片链接兜底。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640FE-55B5-440C-AD3E-1558BCAC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38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C1B26-D9E8-4A07-8623-CAA491C9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38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78081-35B0-4C96-8867-45A138AF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9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B66A1-3C76-4EB1-92F0-3127C3DA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编辑、删除、下架后重新上架。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36C2F-2878-478C-9064-93A51C31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C3380-12DF-44AD-A1CC-55BEEB91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F30F0-DD0B-43A9-AB55-399049AF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09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订单支付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7A435-E7B9-4D5E-849C-F79B23E1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33550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余额支付、平台托管、确认收货后打款。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68997ecc240b9"/>
          <a:stretch xmlns:a="http://schemas.openxmlformats.org/drawingml/2006/main"/>
        </p:blipFill>
        <p:spPr>
          <a:xfrm xmlns:a="http://schemas.openxmlformats.org/drawingml/2006/main">
            <a:off x="952500" y="3383426"/>
            <a:ext cx="4524375" cy="2186649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B66B8-B7B0-438F-8115-6AA57004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2CA77-E1CE-4C6E-93E0-38BB0C6C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分类新增“其他”，演示商品更贴近校园场景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CAB8D-B8DC-4B93-B69A-B2FBA28D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89B06-BFD1-4912-B23F-F74237A2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338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上传图片路径清晰：static/uploads 保存用户图片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DE27A3-967A-49AD-8621-22DE6002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28670-D029-40F4-B010-E1CE1EDD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910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商品图片展示改为完整多图浏览，不只显示一张</a:t>
            </a:r>
          </a:p>
        </p:txBody>
      </p:sp>
    </p:spTree>
    <p:extLst>
      <p:ext uri="{BB962C8B-B14F-4D97-AF65-F5344CB8AC3E}">
        <p14:creationId xmlns:p14="http://schemas.microsoft.com/office/powerpoint/2010/main" val="21138763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EF924D-1F99-476E-9E22-F73EEBBF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8A23F-750E-4FEB-A215-44C5FCA1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37AED-DA69-4176-AE6D-C46584CE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02 / 数据库口径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2DB89-52D4-47B0-A27E-0AC442D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数据库结构从旧版 10 表收敛为当前 5 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C7420-5CD9-446E-8557-04515813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CD79A-3D33-4CB3-AA75-3D447185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81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86949-6C24-43E2-A744-842AE7B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954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E172D-CC03-4575-8809-E7589D8C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用户、密码摘要、昵称、余额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A293F-AD05-40AE-8542-A9D935C9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002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D064A-39E4-4E15-8CE8-EDCC249F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621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15583-FA44-42E1-BEB9-93300099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764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categories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CF530-EFE6-4D6E-A69B-0DAD5CC7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5742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商品分类，包含其他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10745-6CAA-417D-8264-783958DB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8C497-607D-44BB-800F-D122B686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9D0AC-D01A-4EDC-927E-A52FCF4F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575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E0049-0099-4488-BAD5-27B2B014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384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商品主体、多图路径、状态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27649-E519-4563-8B33-648D7B17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623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4BC54-2919-446D-BA59-C16C9E07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242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2C132-65CB-4BFE-A2B9-94974FF6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385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5AB79-AB56-4FED-80D0-451A2107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952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订单、买卖双方、金额、地址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FFAB1-4262-45B9-8344-3D1EDC7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4335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B0C40-D91A-4F54-ADAC-30985748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053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9290F-932C-42A8-A286-0CAFB4E5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96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payments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B4F6F-6AF6-4567-998E-C7782B1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005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余额支付流水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640A6-3F4E-4215-945E-A789B0F7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244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DD599-0CC6-4614-B602-28A9A9F6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当前报告、PPT 和 ER 图全部按这个口径更新；旧版 10 表材料只放在参考目录。</a:t>
            </a:r>
          </a:p>
        </p:txBody>
      </p:sp>
    </p:spTree>
    <p:extLst>
      <p:ext uri="{BB962C8B-B14F-4D97-AF65-F5344CB8AC3E}">
        <p14:creationId xmlns:p14="http://schemas.microsoft.com/office/powerpoint/2010/main" val="11827046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3C8A9E-4404-47F6-8051-B5C5971A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1BAC1-6B3F-4AAB-B151-46E3A73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876CD-C6FE-4706-8343-B2F9EDCD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03 / ER 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D2426-284D-459E-8F20-55D36A09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ER 图展示当前实际运行的表和外键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7C812-EA4D-4361-AA42-9711FAE3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32285e91641b3"/>
          <a:stretch xmlns:a="http://schemas.openxmlformats.org/drawingml/2006/main"/>
        </p:blipFill>
        <p:spPr>
          <a:xfrm xmlns:a="http://schemas.openxmlformats.org/drawingml/2006/main">
            <a:off x="1993446" y="1123950"/>
            <a:ext cx="7633607" cy="4857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25A70-00BF-499B-946A-2B45CEA9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866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重点：多图没有单独 product_images 表；图片路径集中保存在 products.image_url。</a:t>
            </a:r>
          </a:p>
        </p:txBody>
      </p:sp>
    </p:spTree>
    <p:extLst>
      <p:ext uri="{BB962C8B-B14F-4D97-AF65-F5344CB8AC3E}">
        <p14:creationId xmlns:p14="http://schemas.microsoft.com/office/powerpoint/2010/main" val="19643961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061B7D-2169-480F-BF96-DE34DA9F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910AC-D204-4E13-8787-6D823F31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BF5DF-211C-4C0A-8571-77A886D7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04 / 图片设计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2775F-FC31-489D-8D0B-C69CD759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图片上传改成更适合真实使用的本地多图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6518B-5D3D-4A4B-BE52-F9B7C2B4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E67FB-132E-4664-8BBF-1A742E4D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572EB-C981-424A-9BAA-F7E851B4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A6985-1CBE-4528-AD2A-D9FC3FAC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6002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上传体验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8BEDE-D208-40ED-9BF0-33E4CA29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24050"/>
            <a:ext cx="2514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可一次选择多张，也可编辑时追加新图；不会因为后选一张就覆盖前面的图。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55602-740B-4E9C-83AC-0CD7ED35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04525-2AED-4438-A172-A9EAFC8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02D6A-1B0B-4E5A-8EB1-E805F68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002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存储路径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85378-AF6C-4D01-81B7-9ABA26FE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924050"/>
            <a:ext cx="2514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用户上传：代码/static/uploads；演示商品：代码/static/product_images。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BF420-2B7A-432C-991B-4BC5141E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28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BFCC2-B5BE-454F-B5CA-5CD55762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28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47349-51AA-45AB-9142-B84687E7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6002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数据库字段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56BC0-11A7-46C8-885D-9245B1DC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924050"/>
            <a:ext cx="2514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products.image_url 保存 /static/... 路径，多张图片用 | 分隔。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D3FC6-5D0C-4588-A1D7-24E79177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06283-2E23-4356-BC3B-A63D8CF2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9052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每个商品最多保留 4 张图片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483F1-1CA5-4BFE-9191-B42DF4E0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10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41FC3-2F0B-4052-8DCC-4307B77B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3624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应用上传总限制提升到 20MB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47BD0-F0F3-4F66-A692-6688EDFA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67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C330A-9586-40A0-957E-66C9E2A2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8196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编辑页支持保留/删除旧图并追加新图</a:t>
            </a:r>
          </a:p>
        </p:txBody>
      </p:sp>
    </p:spTree>
    <p:extLst>
      <p:ext uri="{BB962C8B-B14F-4D97-AF65-F5344CB8AC3E}">
        <p14:creationId xmlns:p14="http://schemas.microsoft.com/office/powerpoint/2010/main" val="18163125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F40F5C-9913-40E4-9829-F3E3D940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8B030-9C84-4A4C-A7DF-DDFDA313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15B58-23FA-4AFA-A8CA-5E5329B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05 / 交易状态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3B2C6-5E18-425D-8AD1-526871A2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商品和订单状态让交易流程可控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8DFFA-6337-49E5-B0CB-E16C3883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13669-A29E-4412-B821-8915B8EF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EAB50-5E06-4853-A14C-7B43A0C9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on_sale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EA2AF-4D12-4384-882D-30D71CFB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0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在售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85D7A-6B94-401C-A250-E36DF99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050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5EA4D-4658-466F-9335-4FDD2F05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A97C6-15E0-4F73-B90A-23C750AF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336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3FAE0-D3D9-471F-871F-CAAECE4B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00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下单锁定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A468D-6149-4503-8903-2F8F0889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050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2D1EC-B7DE-47F3-8ACD-DF8454CF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1789A-CDEF-4E74-B260-34EE6FFE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336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C4139-1791-41B2-AFF0-AC311F58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0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余额支付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C221C-4FA5-484D-8C0F-E6548B6B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050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BB942-079C-4D45-A801-8B9AB74D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48838-87E8-48E7-8805-93303C79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336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CE344A-52B5-4D6A-B9A7-7F03C498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00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确认收货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10659-5FBC-4B68-856D-FF72AC3A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050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3096B-2DA0-419E-94F0-FA3BA021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5A3D9-BFA0-43A7-9C0D-53E490B4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336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C02FE-9E78-4F3F-A48F-A310891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0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商品售出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C402A-F923-48A0-AE22-B9CFC6C3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0876F9-879B-4672-BC4E-4367EAFE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496A52-6121-44F1-86E5-C3F25D28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取消与下架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2DFFFC-C7FA-4889-8677-5724117C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00550"/>
            <a:ext cx="365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待支付订单取消后商品回到 on_sale；卖家下架为 removed，后续可以重新上架。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DC643-0DA6-476C-BEDD-8ADC5E6A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E3E60-8063-4F24-A26C-F881B0EA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C331AF-0CC8-4428-8A92-A9D1121D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资金流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35DF4B-CF56-4302-B734-9C64C56B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365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支付先扣买家余额，确认收货后再给卖家增加余额，贴近平台托管模式。</a:t>
            </a:r>
          </a:p>
        </p:txBody>
      </p:sp>
    </p:spTree>
    <p:extLst>
      <p:ext uri="{BB962C8B-B14F-4D97-AF65-F5344CB8AC3E}">
        <p14:creationId xmlns:p14="http://schemas.microsoft.com/office/powerpoint/2010/main" val="5037271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7C6E9E-C779-49B9-B5BB-CFBBE04A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AC43C-DAF1-44CF-BA09-3A7DBBDA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6A042-A1A3-4027-BBC3-0CCDB921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06 / 演示数据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8DB20-068F-4127-A1F5-F6B848E9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初始化数据服务演示，不再像测试占位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1FA86-E7BA-4800-873D-1386C21A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490F6-E6D2-4E90-B19D-F36F93ED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2EFF5-585E-48E7-8D4D-22BC030B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A8038-AF58-43B5-B90D-809C38AD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5257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演示账号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06269-6351-4A12-AD5D-8220CD9E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76425"/>
            <a:ext cx="2514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alice / bob / carol，密码均为 123456，初始余额 5000 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F8DDF-9D0B-405A-B276-4A42B00C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5F5EF-460A-4951-8A98-6E0C629D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895B7-6BD7-421D-B643-8BB84125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5257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商品类型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FF0A8-2B99-42F5-AA9E-B7796FAC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76425"/>
            <a:ext cx="2514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手机、教材、鼠标、自行车、鞋、台灯、宿舍折叠桌板。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24EC8-390B-45F5-A8AD-A79C75A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F3C39-56D0-494C-8E08-33FB450F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470DB-612B-4322-8DBE-BD9C9A24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5257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分类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0385D-D9F7-4C86-8E68-33DE72BA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76425"/>
            <a:ext cx="2514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数码电子、图书教材、服饰鞋包、运动户外、生活家居、美妆个护、其他。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D61F4-A35D-438D-AF1E-724C90A1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57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A6C43-66AE-48D8-A76C-12EC273C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8100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init_db.py 会重建 secondhand 数据库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5BE63-DF86-4BB5-BC4C-376EB953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14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88112-8980-4315-B128-88DD52DC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672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schema.sql 是当前网站实际使用的建表文件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FCEFD-A017-4072-A687-C75EA214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72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578B8-015B-4218-A9B8-D7CECB06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7244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用户上传图片不随代码备份，避免把运行数据混进 GitHub</a:t>
            </a:r>
          </a:p>
        </p:txBody>
      </p:sp>
    </p:spTree>
    <p:extLst>
      <p:ext uri="{BB962C8B-B14F-4D97-AF65-F5344CB8AC3E}">
        <p14:creationId xmlns:p14="http://schemas.microsoft.com/office/powerpoint/2010/main" val="11298240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2ACE3F-D247-4773-90A3-BFDF8CCB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B95EF-E408-4A73-9AA0-F04BBC3A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24801-833C-41B6-B71D-8EF3CA45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07 / 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EC46E-E225-4D06-85F2-9F77690F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答辩收束：当前版本是可运行、可演示、可继续扩展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06863-F6D9-4B59-8785-3387F579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8D745-1F5B-468A-8A30-9FF82870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2875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52945-E66F-4ABA-AE00-F5858CD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287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B78A9-D15A-42CB-8B24-E8ADBC40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002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已经完成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A6832-E2ED-4315-9314-60DC07E4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24050"/>
            <a:ext cx="2609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5 表数据库、真实商品图、多图上传、商品管理、余额交易、个人资料修改。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0D32D-848D-4648-A3D6-4B98A5FC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2875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9332B-5C77-4B8D-A828-48C3D6A6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287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5AB52-F972-409C-BBE5-72144BAE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6002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设计取舍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3B371-FB6A-4804-A666-5796AD13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924050"/>
            <a:ext cx="2609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为了保证网站稳定运行，当前版把图片多图用 image_url 文本字段承载。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E18B0-DE74-4098-BFF1-79690C16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2875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F117A-4E82-4718-A9DA-79FD5614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287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3E16C-B42B-42F8-A7DB-C339C9B1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002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后续扩展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A6E05-821F-4193-B97F-730EBAE9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24050"/>
            <a:ext cx="2609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收藏、消息、评价、管理员审核可以作为新增表继续扩展。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5D7B0D-41CC-4ECE-8658-D0A970A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一句话：当前提交材料已经和代码一致，展示时以 secondhand 数据库和 5 张运行表为准。</a:t>
            </a:r>
          </a:p>
        </p:txBody>
      </p:sp>
    </p:spTree>
    <p:extLst>
      <p:ext uri="{BB962C8B-B14F-4D97-AF65-F5344CB8AC3E}">
        <p14:creationId xmlns:p14="http://schemas.microsoft.com/office/powerpoint/2010/main" val="1669313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6C4EA0-8C67-46CA-B807-41355CDD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3DF7E-9C4C-4F9F-BF49-40E90047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E3B2C-07F7-43D0-A03A-D4DB2781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08 / 字段细节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A90A3-566B-43F1-B802-D9314DBE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字段设计围绕页面查询和交易动作展开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C6565-D5B2-4C09-81BE-6175C9C1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67406-6448-4145-82AF-6AE199AE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C1FCD-44A3-4C05-BD3D-B847BAB5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457F9-28B6-4635-9CB7-04CF43BC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57325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products.image_url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F388F-E8C4-4CC9-9478-2FE2F3BF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81175"/>
            <a:ext cx="2705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用 | 分隔多张 /static/... 图片路径，兼顾本地上传和演示图。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EC569-C2F6-45A6-8A52-D92AA1D3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85875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7694A-9398-4944-987C-1B0F84FC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85875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EEF03-0747-4AFA-903C-72AF14C2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57325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products.status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B5471-26B7-4EAE-9719-2190C893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81175"/>
            <a:ext cx="2705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on_sale / locked / sold / removed 支撑售卖、锁定、成交和下架。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E1563-FF90-409B-9D2F-A5D2915B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85875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B04C8-5C7F-4AE6-AB7E-1C113A27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85875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18219-F7FD-40DD-B792-4D769155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57325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orders.status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F9EDE-5380-4876-828C-FB1FEB79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81175"/>
            <a:ext cx="2705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created / paid / completed / cancelled 对应订单生命周期。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37D4E-3569-41B7-A90F-4BFA62C3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71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CCD3F-5785-4F3D-AE19-FA23B8C1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2425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seller_id 和 category_id 服务卖家中心和分类筛选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86216-2D8B-469D-83E3-5B4A7EEF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29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D028A-7FE4-47E5-A30F-B17805EE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8145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buyer_id / seller_id 让买到的、卖出的订单分开查询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86D8F-AAC4-4762-BFF6-A1B5C402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86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9BEF2-31CB-4F64-9A9F-CB02FD21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3865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payments 保留支付流水，便于演示资金变化</a:t>
            </a:r>
          </a:p>
        </p:txBody>
      </p:sp>
    </p:spTree>
    <p:extLst>
      <p:ext uri="{BB962C8B-B14F-4D97-AF65-F5344CB8AC3E}">
        <p14:creationId xmlns:p14="http://schemas.microsoft.com/office/powerpoint/2010/main" val="16804455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60E68-9F50-49AF-BFF3-ECB7C80A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1BAB4-69D4-4AD9-BAAE-E51098B2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512B2-2717-49C8-8B74-F574B6D9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09 / 页面到数据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78E7E-6DDC-43EF-91B1-FE75D727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页面功能和数据库字段是一一对应的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FCB7B-0B10-41C8-A438-FC79D3A1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24122-BA88-42A0-B1D7-02BE106A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7763B-9F8F-493C-AE14-39A0DB90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02934-9ABE-4C3F-9F56-ADC57D84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049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发布页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0F09D-EAA7-4CE6-AA54-181A82B2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28800"/>
            <a:ext cx="213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写入 products，图片保存到 static/uploads。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F1293-DD76-47CE-8504-A9B95645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335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B0609-4EA6-4C7C-A469-51E2FE6A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335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BF293-54D7-4149-A342-48C6DF7D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049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商品详情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2F2F4-D87A-4A34-9B7C-4BED5198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28800"/>
            <a:ext cx="213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读取 products、users、categories，并增加 view_count。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5A6F9-A9DA-45C2-828D-811795B8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335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A25E6-565A-4032-AAEC-71A379AB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335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B56D2-FFF4-4F52-9194-081E39B5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049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订单页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3D28E-3C0A-4990-B243-C63A2824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28800"/>
            <a:ext cx="213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读取 orders 并关联 products、买家或卖家。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62539-A256-413A-AD76-E59FD0A3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3350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F1C72-9657-4DE3-B4D9-69C77DDC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335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12DC6-C745-4433-AFFF-7C9FABC6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049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个人中心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5C9E2C-4568-43A0-BD3C-C5812CD7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28800"/>
            <a:ext cx="1847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更新 users.nickname、phone、password_hash。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26055-7EB7-420A-839C-F8E2FD82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这也是为什么当前材料不能继续写旧版 messages / favorites / reviews：代码里没有这些运行表。</a:t>
            </a:r>
          </a:p>
        </p:txBody>
      </p:sp>
    </p:spTree>
    <p:extLst>
      <p:ext uri="{BB962C8B-B14F-4D97-AF65-F5344CB8AC3E}">
        <p14:creationId xmlns:p14="http://schemas.microsoft.com/office/powerpoint/2010/main" val="21036344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202C4C-EE85-4962-A240-81F028FA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EA5D1-472C-4C20-94AF-F7254872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56280-EAF2-4782-AFB2-4F3DF2E5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10 / 文件管理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56E6E-7170-4E1B-8E30-DF1AADC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提交材料分层保留，避免旧版和当前版混用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833FA-1A60-4148-BD66-E67D30B8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8CC9E-27A2-4C8E-A816-512AEFB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4191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A406F-F0F9-427E-8E94-B5CBCE35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4191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2CCB1-29C1-4900-8900-4704EF6B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00_旧版重要参考_勿改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E2F5D-EA2F-4D9D-AC8D-2A4B43FD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24050"/>
            <a:ext cx="384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保留旧版 10 表报告、PPT、ER 图和 SQL，作为扩展设计参考。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6CB65-011D-4677-A054-DDD7DB87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191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54C5D-0C05-4718-BD64-8D8F6B0A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191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F9B4D-E1E3-4E01-B1B6-873697C3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01_当前代码版_待更新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9D629-EAB1-44F1-8BC2-97995CEA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24050"/>
            <a:ext cx="384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本次更新后的报告、PPT、ER 图，和当前代码保持一致。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CE9B7-DD48-4CA4-9CD8-676806D0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5334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1FD7C-9867-45F9-9F39-9B4310CD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533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CFBE5-FD6C-4B94-988D-F367C278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499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02_当前运行数据库结构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1AFE0-75F8-4CFA-A372-0CD7071F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00550"/>
            <a:ext cx="4991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存放当前网站真正使用的 schema.sql。</a:t>
            </a:r>
          </a:p>
        </p:txBody>
      </p:sp>
    </p:spTree>
    <p:extLst>
      <p:ext uri="{BB962C8B-B14F-4D97-AF65-F5344CB8AC3E}">
        <p14:creationId xmlns:p14="http://schemas.microsoft.com/office/powerpoint/2010/main" val="5380250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0B164-A26A-45FA-8B08-118160C6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6297C-56B8-4048-B102-595F8082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1C84D-6495-4923-82EC-28C983AD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11 / 答辩问答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D0CE8-1B81-4192-9252-224F3B7E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老师追问时的回答口径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11ED9-7573-44AE-B91E-4B2B0EBD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A3D39-5FE8-4F54-B30F-38728E49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7BA0A-1442-4CAF-801F-E395660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0"/>
            <a:ext cx="942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为什么只有 5 张表？当前版本优先保证网站主流程完整可演示，满足至少 5 张业务表要求。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B9BCC-B101-4F55-BB8F-C9FC97C7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28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F379B-ED25-4070-ABC5-B42F94E1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81200"/>
            <a:ext cx="942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多图为什么不单独建表？当前代码为简化实现采用 image_url 文本字段，后续可平滑扩展成 product_images。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B8545-70A8-4215-A833-1FB931DE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86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4E999-8BD2-4F4D-B173-D5442101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38400"/>
            <a:ext cx="942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旧版 10 表还能用吗？可以作为扩展设计参考，但当前演示以代码/database/schema.sql 为准。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A530A-E6AA-48D6-B80A-43A3AA53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78242-A742-4347-A9F3-B3AFEF8B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95600"/>
            <a:ext cx="942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上传图片在哪里？用户上传图在 代码/static/uploads，演示图在 代码/static/product_images。</a:t>
            </a:r>
          </a:p>
        </p:txBody>
      </p:sp>
    </p:spTree>
    <p:extLst>
      <p:ext uri="{BB962C8B-B14F-4D97-AF65-F5344CB8AC3E}">
        <p14:creationId xmlns:p14="http://schemas.microsoft.com/office/powerpoint/2010/main" val="1818084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2026-05-30T12:41:12.2940000Z</dcterms:created>
  <dcterms:modified xsi:type="dcterms:W3CDTF">2026-05-30T12:41:12.2940000Z</dcterms:modified>
</coreProperties>
</file>