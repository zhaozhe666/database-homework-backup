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48ae4102b64d89" /><Relationship Type="http://schemas.openxmlformats.org/officeDocument/2006/relationships/extended-properties" Target="/docProps/app.xml" Id="R6649f03f38614cce" /><Relationship Type="http://schemas.openxmlformats.org/officeDocument/2006/relationships/officeDocument" Target="/ppt/presentation.xml" Id="R0fbc7d5d918e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071d0f7a443c7"/>
  </p:sldMasterIdLst>
  <p:notesMasterIdLst>
    <p:notesMasterId xmlns:r="http://schemas.openxmlformats.org/officeDocument/2006/relationships" r:id="Rcc56eb3c61954d59"/>
  </p:notesMasterIdLst>
  <p:sldIdLst>
    <p:sldId xmlns:r="http://schemas.openxmlformats.org/officeDocument/2006/relationships" id="256" r:id="R1df9e914a3394a0a"/>
    <p:sldId xmlns:r="http://schemas.openxmlformats.org/officeDocument/2006/relationships" id="257" r:id="R312a32dba0d84f02"/>
    <p:sldId xmlns:r="http://schemas.openxmlformats.org/officeDocument/2006/relationships" id="258" r:id="Rf71cc7ea628047f1"/>
    <p:sldId xmlns:r="http://schemas.openxmlformats.org/officeDocument/2006/relationships" id="259" r:id="R7e0dcc33933f4277"/>
    <p:sldId xmlns:r="http://schemas.openxmlformats.org/officeDocument/2006/relationships" id="260" r:id="R8ba47a2b72b9460b"/>
    <p:sldId xmlns:r="http://schemas.openxmlformats.org/officeDocument/2006/relationships" id="261" r:id="Re9e9f397b3c7406b"/>
    <p:sldId xmlns:r="http://schemas.openxmlformats.org/officeDocument/2006/relationships" id="262" r:id="R0a8a58103da2458a"/>
    <p:sldId xmlns:r="http://schemas.openxmlformats.org/officeDocument/2006/relationships" id="263" r:id="Rdfe5685c81ea4d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071d0f7a443c7" /><Relationship Type="http://schemas.openxmlformats.org/officeDocument/2006/relationships/theme" Target="/ppt/theme/theme1.xml" Id="R7cb00df977d34a73" /><Relationship Type="http://schemas.openxmlformats.org/officeDocument/2006/relationships/notesMaster" Target="/ppt/notesMasters/notesMaster1.xml" Id="Rcc56eb3c61954d59" /><Relationship Type="http://schemas.openxmlformats.org/officeDocument/2006/relationships/presProps" Target="/ppt/presProps.xml" Id="R9d55222893264395" /><Relationship Type="http://schemas.openxmlformats.org/officeDocument/2006/relationships/viewProps" Target="/ppt/viewProps.xml" Id="R26ffa497c1534598" /><Relationship Type="http://schemas.openxmlformats.org/officeDocument/2006/relationships/tableStyles" Target="/ppt/tableStyles.xml" Id="R0eed83ea532e464e" /><Relationship Type="http://schemas.openxmlformats.org/officeDocument/2006/relationships/slide" Target="/ppt/slides/slide1.xml" Id="R1df9e914a3394a0a" /><Relationship Type="http://schemas.openxmlformats.org/officeDocument/2006/relationships/slide" Target="/ppt/slides/slide2.xml" Id="R312a32dba0d84f02" /><Relationship Type="http://schemas.openxmlformats.org/officeDocument/2006/relationships/slide" Target="/ppt/slides/slide3.xml" Id="Rf71cc7ea628047f1" /><Relationship Type="http://schemas.openxmlformats.org/officeDocument/2006/relationships/slide" Target="/ppt/slides/slide4.xml" Id="R7e0dcc33933f4277" /><Relationship Type="http://schemas.openxmlformats.org/officeDocument/2006/relationships/slide" Target="/ppt/slides/slide5.xml" Id="R8ba47a2b72b9460b" /><Relationship Type="http://schemas.openxmlformats.org/officeDocument/2006/relationships/slide" Target="/ppt/slides/slide6.xml" Id="Re9e9f397b3c7406b" /><Relationship Type="http://schemas.openxmlformats.org/officeDocument/2006/relationships/slide" Target="/ppt/slides/slide7.xml" Id="R0a8a58103da2458a" /><Relationship Type="http://schemas.openxmlformats.org/officeDocument/2006/relationships/slide" Target="/ppt/slides/slide8.xml" Id="Rdfe5685c81ea4d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bd80722699145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d46753a6c44fa" /><Relationship Type="http://schemas.openxmlformats.org/officeDocument/2006/relationships/notesMaster" Target="/ppt/notesMasters/notesMaster1.xml" Id="R1356a1b1fdb2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4e69899e6a4e41" /><Relationship Type="http://schemas.openxmlformats.org/officeDocument/2006/relationships/notesMaster" Target="/ppt/notesMasters/notesMaster1.xml" Id="R19366655a6904a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5439158a7452f" /><Relationship Type="http://schemas.openxmlformats.org/officeDocument/2006/relationships/notesMaster" Target="/ppt/notesMasters/notesMaster1.xml" Id="R63c7ef3e99fe43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260cfe30d54fc9" /><Relationship Type="http://schemas.openxmlformats.org/officeDocument/2006/relationships/notesMaster" Target="/ppt/notesMasters/notesMaster1.xml" Id="R6b8592730d4045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d2e9d80a584be3" /><Relationship Type="http://schemas.openxmlformats.org/officeDocument/2006/relationships/notesMaster" Target="/ppt/notesMasters/notesMaster1.xml" Id="R5c6bee70f4a345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5836fad664f3e" /><Relationship Type="http://schemas.openxmlformats.org/officeDocument/2006/relationships/notesMaster" Target="/ppt/notesMasters/notesMaster1.xml" Id="R7c0c9e81e6d143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77418ca894a14" /><Relationship Type="http://schemas.openxmlformats.org/officeDocument/2006/relationships/notesMaster" Target="/ppt/notesMasters/notesMaster1.xml" Id="Rb70a9a1ad3e744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ba7c3fae6f4911" /><Relationship Type="http://schemas.openxmlformats.org/officeDocument/2006/relationships/notesMaster" Target="/ppt/notesMasters/notesMaster1.xml" Id="Radb95021646f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d52437d3948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3af6c5ed504c4c" /><Relationship Type="http://schemas.openxmlformats.org/officeDocument/2006/relationships/slideLayout" Target="/ppt/slideLayouts/slideLayout2.xml" Id="R17fed970a143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ed970a143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0eb12a8014fd0" /><Relationship Type="http://schemas.openxmlformats.org/officeDocument/2006/relationships/image" Target="/ppt/media/image.png" Id="Re528b32f42e842a1" /><Relationship Type="http://schemas.openxmlformats.org/officeDocument/2006/relationships/notesSlide" Target="/ppt/notesSlides/notesSlide1.xml" Id="R7d25923e922148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c4c33ea2c54480" /><Relationship Type="http://schemas.openxmlformats.org/officeDocument/2006/relationships/notesSlide" Target="/ppt/notesSlides/notesSlide2.xml" Id="R5e740c4b415b48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ce1fb392fc4389" /><Relationship Type="http://schemas.openxmlformats.org/officeDocument/2006/relationships/notesSlide" Target="/ppt/notesSlides/notesSlide3.xml" Id="Rf799731428d24d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de009b04e4726" /><Relationship Type="http://schemas.openxmlformats.org/officeDocument/2006/relationships/image" Target="/ppt/media/image2.png" Id="R14be00a4dd584d8c" /><Relationship Type="http://schemas.openxmlformats.org/officeDocument/2006/relationships/notesSlide" Target="/ppt/notesSlides/notesSlide4.xml" Id="R467bfd9e1fa54c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531312b3642c8" /><Relationship Type="http://schemas.openxmlformats.org/officeDocument/2006/relationships/notesSlide" Target="/ppt/notesSlides/notesSlide5.xml" Id="Ra0b9f20c992945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e4d0417774a27" /><Relationship Type="http://schemas.openxmlformats.org/officeDocument/2006/relationships/notesSlide" Target="/ppt/notesSlides/notesSlide6.xml" Id="Rad0e8c1037b3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80f9ae9f846c9" /><Relationship Type="http://schemas.openxmlformats.org/officeDocument/2006/relationships/notesSlide" Target="/ppt/notesSlides/notesSlide7.xml" Id="Rf3253e4345f9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8735c96fa84909" /><Relationship Type="http://schemas.openxmlformats.org/officeDocument/2006/relationships/notesSlide" Target="/ppt/notesSlides/notesSlide8.xml" Id="R521bfeafc8ef48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8b32f42e842a1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381C8-468D-4530-A9A3-15F291D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EC91C-3E42-41C5-8C37-B7D2663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E8E5"/>
                </a:solidFill>
                <a:latin typeface="Microsoft YaHei"/>
                <a:ea typeface="Microsoft YaHei"/>
                <a:cs typeface="Microsoft YaHei"/>
              </a:rPr>
              <a:t>数据库课程设计答辩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779FA-18CD-4469-A840-A7CD4DF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校园二手交易平台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B6C8E-73E6-4605-B1B1-D2703FA7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1E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1E4C7"/>
                </a:solidFill>
                <a:latin typeface="Microsoft YaHei"/>
                <a:ea typeface="Microsoft YaHei"/>
                <a:cs typeface="Microsoft YaHei"/>
              </a:rPr>
              <a:t>10 张业务表 · 2 个业务视图 · 完整样例数据 · 可执行 MySQL 脚本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D6B3B-EDCD-460D-95C7-CC672CF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D2786-D2E2-41EA-80D0-CE55D289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F95E5-EC6F-4F37-8044-6C05C09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10573-EF5D-460D-AC8C-610C3493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4D7E8-A7FA-4C94-9693-AA8CFF04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本设计不是单张 ER 图，而是覆盖发布、沟通、收藏、订单、支付、评价的完整交易闭环。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E6AA7-5715-4BFF-AEB8-C554A595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9480B-DBE4-4345-8F84-C3C2BDB6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2531C-933C-40F9-A315-8D95846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0E04E-3C55-4192-8BFD-F69FDCC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243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7A4CF-0462-4448-88AB-0505F206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8157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禁止自买自卖、重复收藏、重复出售；评价必须依附订单。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C66B1-3FCA-4793-8FBD-520E3F4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862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BB03A-E576-4E33-ACBB-A3AF5F97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58B43-F97F-4036-86DE-9DF55C34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CE6AC-AD0F-4431-AA8B-32D10EF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B139E-AD7F-4D99-AA7E-37B3936C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81575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报告、SQL、精美 ER 图、说明书和答辩 PPT 可配套提交。</a:t>
            </a:r>
          </a:p>
        </p:txBody>
      </p:sp>
    </p:spTree>
    <p:extLst>
      <p:ext uri="{BB962C8B-B14F-4D97-AF65-F5344CB8AC3E}">
        <p14:creationId xmlns:p14="http://schemas.microsoft.com/office/powerpoint/2010/main" val="1598637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3F57B-B6C8-49A5-82B8-CCFF1A9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1E3C-5249-4D5B-96F9-5AC1075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4B9EB-DC24-44F3-9A1E-416EE80B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754E3-CDDC-471E-93AF-6086891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01 / 选题背景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A20AB-F821-4E8D-9AB1-9669A436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8FC3-763B-42F4-A494-694ACD7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校园闲置交易真实存在，但微信群式交易缺少数据沉淀。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A8D46-1943-4479-AD2C-904EBE39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教材、电子配件、宿舍用品和考试资料都有流转需求；数据库设计要让交易过程可查询、可约束、可追踪。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6B778-4990-45B2-A493-2CE31AC2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BE6AB-42E7-41B4-AFD7-57A3A62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C3B78-33B5-41F5-9613-EA321C1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3D906-E3EC-43DA-9D67-C0D3BAD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 A：信息分散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14840-04C7-4819-808A-69CA3218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商品状态靠聊天记录维护，买家不知道是否已售，卖家重复解释成本高。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2B035-CF02-45C5-BED5-9CD3F63F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CA88D-8B45-4A62-A1F7-9EABA8CC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A0951-5C84-499A-BF8B-CA6221C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E3CB6-EBAE-49D0-911F-5C6D947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670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 B：信任不足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A1B97-FC6A-4566-8600-52EAEC1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没有订单和评价，交易后无法沉淀信用，出现纠纷时缺少依据。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0AB5E-06BC-4C0E-A78D-882E170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9804A-5A4F-4E31-B70B-5E1D9B5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99FB3-C223-482C-BE98-2B737D4C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F4601-E936-4210-A321-B195DA8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 C：统计困难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01A8C-D970-4EB5-9E9D-4052715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647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缺少结构化数据，无法按分类、校区、订单状态或用户行为做查询统计。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00C0D-B5DD-455C-85AF-6A405C3E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03C4F-59D8-4742-93C4-3A2AA67C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5D7F84-7040-4660-A829-F019AED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38653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BC79D3-2EDC-415A-97E9-9B0F13B4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646EB-7A51-4EBF-9DE5-5D33EFA8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2A042-AC17-4592-84FA-AF791E97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07B9E-44F7-4965-A460-B8D54C8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02 / 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E0A12-14EC-475A-A890-6C3CAAF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CD61B-343E-43A0-8196-91906B3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从发布到评价，数据库要覆盖完整交易链路。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F8465-ADC1-40D5-B981-41FA2910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89138-3520-4678-AB4C-456EBF11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9BFDF-BBF6-4AE2-9AFC-197FF493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A88C7-4B8B-4C51-AFDD-E85A7A00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E0485-F0B1-40ED-A5A8-A76D23AC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56411-CFBC-44AE-A95B-DDC4976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EC20A-D5EB-4909-B0EA-B0BF3F5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4904A-6B7B-46BB-8A7D-956226E9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商品信息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7D33D-C4CB-4E79-AEDA-C89E456B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5EF74-5608-4398-B6F9-529F032E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C70A5-1EB9-49FD-8385-0CC067F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2764E-89C9-4AF9-986C-920A80B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沟通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735C2-27FC-42F4-921B-9403C7DD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站内消息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15377-FE86-4FD3-8306-9F6EA44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CD331-691F-45F3-886D-F740910D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356FA-D407-468B-BC8D-6F8D375D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B14F4-D283-4FF3-AB98-4D578FA5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3707D-F06D-4BD6-BCDA-DBB5D00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意向沉淀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119E8-67B6-4BE9-8FF0-294A4AE1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FED5-1E82-4636-8E94-0303AF3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D14E5-4DD6-4C4A-919A-93E30947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7529F-5F1B-443E-9233-4DD4BD36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AC911-8117-44C4-A2D9-983B926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订单明细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DEECD-A5AF-4948-A278-F8CB36C1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AAA05-4DEB-48D4-BAAA-19AE4C95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1A22B-6A01-44C6-A36A-DF2CA42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18C4E-FFAC-4944-BBA5-4ED4AD4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146FA-B4F8-4246-BB30-175DE3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支付流水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D5B87-8EFD-4148-A0B7-03CCE47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6707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C02C0B-630B-4190-BA68-A54E30AC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004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D02B17-1E48-49BC-8BDA-C2520F8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022580-0CEF-488C-BAF1-5F50A0E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FFA57-6945-44BA-8A59-9097FA0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05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信用反馈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A507EF-0FCA-47EB-A1C3-DAB8D4A9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这条链路决定了表结构：users、products、messages、favorites、orders、order_items、payments、reviews 必须共同出现。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B6DB36-2A7E-4233-9233-E2C8F08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7E8F0-061A-47D5-BEA1-D3340B1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4B2E01-C712-408A-8BD3-DE4FE89E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60150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4E7ED-4C1B-433F-96B9-0337812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6BAA8-9CE8-4697-B0B9-0301098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6CBD6-0A14-45C1-B178-9540F6D0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E1917-97B4-4187-A09B-96FE6DF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03 / ER 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8F977-611E-433B-8700-4A8E008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6348-75F2-4C62-B7ED-8837295B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10 张表把交易对象、过程和反馈拆清楚。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D2BDD-0B07-40D5-AA07-FDCE3BB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图中 PK 为主键，FK 为外键；核心关系围绕用户、商品和订单展开。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e00a4dd584d8c"/>
          <a:stretch xmlns:a="http://schemas.openxmlformats.org/drawingml/2006/main"/>
        </p:blipFill>
        <p:spPr>
          <a:xfrm xmlns:a="http://schemas.openxmlformats.org/drawingml/2006/main">
            <a:off x="2819400" y="203835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3A470-2655-4C0E-96E3-BD64F13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4CAA7-F61D-4909-8A3E-79D0948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826AE-39C6-461A-BCF9-D921C9A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67496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C49EA-2703-489C-B2C1-EFCA498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F95F9-5EBF-4D74-9082-DC5742C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C9BC5-57B2-4EA8-8FAB-AC505A2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EFE1B-4AD5-400A-8027-1E02D97E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04 / 表结构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378EA-E8D0-4765-BD05-5EC67A6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29AB-384E-4095-AE53-23A84D4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表不是越少越好，而是每张表都承担清楚职责。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46281-E924-4A4A-89C3-CE2160E2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3D462-D63E-491C-9F8D-74ABB765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主体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25289-1636-406C-B775-7A6D51E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717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users / categories /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D5F35-A86B-4F53-BE11-D7C9F9C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保存人、分类和商品。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F5821-C381-4691-8DAB-33D2B1B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023BC-1554-4522-8F93-A5E8AF53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互动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E3B94-9B65-42CB-BD4D-63DC0F86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favorites /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85601-FE3A-4AAB-97CB-23FF2B2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收藏意向和沟通记录。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69401-2476-4CD1-9F15-2F24BD3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6B504-8C6B-4701-8CB6-E12EEBD1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交易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EBA50-1CFE-4B28-8F0D-1834D21C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orders / order_items / payments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B293E-EDD5-4D77-82EF-EE63A952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订单、明细和支付流水。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251EB-BC6D-466F-AE26-B99E8C6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02E4D-9AFA-4296-AEF0-44EADBEB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78317-E2FD-4E8F-BC48-94582EB6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4E3E7-DC35-432F-AF5C-C093F230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订单完成后的信用评价。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ED568-AE7C-442A-BF9A-25A264E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73270-F397-4836-BF01-1EBEF8D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149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EBA74-3C89-4601-BEAE-9B379BA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1492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product_images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F2413-5EA9-4120-9CE9-F6EEF4D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14925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支持商品多图和封面图。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EA56E-61A6-4831-9932-C8B2FEE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1D17E-7D6B-4A16-8536-AF1D00F2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E4993-87BE-4B2F-986F-C992DE9F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72550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2B2F2-0088-48AA-88C3-E9AB591F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BBEF-B6A2-4B69-BAD9-DAFEC19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4A256-C81A-470E-87AC-15A455B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3AFB0-5B2D-48CD-A7DB-CAE1A17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05 / 完整性约束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BC7B6-BBEA-40F9-8C37-DD66CCF6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C7F9B-FAAD-4792-8E3B-DCCD1BD9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现实业务风险，尽量在数据库层先拦住。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275CC-0AFD-4A79-B86C-ECE2AD7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6A275-7E5C-46B2-BF0D-7BB9E14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1B282-7DC2-4E71-A822-C3BF9EBD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5CB2-AB05-4905-BD41-263CBFE3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唯一约束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CF3B9-6B11-463B-91C2-1E0A532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学号、手机号唯一；同一用户不能重复收藏同一商品；同一商品不能重复卖出。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5B694-041B-4AA9-84FB-7D617233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B1850-F648-4CC0-8784-CA6E8529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94605-FFB2-4159-B6E8-8B7855A6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EE9C6-E17F-4D48-83EC-B176DE0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81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外键约束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80E02-AE9D-4191-AAEE-CEF12FCA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商品必须属于卖家和分类；订单必须关联买卖双方；评价必须关联订单。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0424A-8CAB-4CAB-B6FB-FDED00C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F560A-B918-49C8-9475-3619E83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D2C27-7EA6-492A-9EFD-67E2BFE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EF3D0-BE3E-4627-954A-51991AE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8F130-3F91-4E1A-819E-AA9EF55C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金额不能为负，评分只能 1 到 5，买家和卖家不能是同一人。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F1450-DB07-4EC4-BB4E-C479F3F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78DCE-5A14-4CA7-AF56-101C23D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DACF7-A787-423F-9E73-1FAF015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64F47-DB83-47F5-AEA0-5473CDF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索引设计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2ED90-111A-4F44-837C-CCC4A23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商品列表、订单状态、消息未读数等高频查询都有对应索引。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8F6CE-CCC1-40C8-B809-BD6CD103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数据库约束不是装饰，它决定了系统能不能防止“重复出售、自买自卖、虚假评价”等现实问题。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9BA15-36BF-4217-A4BE-DC01E42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46E2B-7FB3-4833-9F2B-5978FBF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A84F2-6219-49D1-B885-CD73C567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6945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BF196-6E95-4353-B83E-2572248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3D077-7EF2-42CE-9053-52FF5640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33D5E-69CF-439C-9DE7-1054B70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F1813-CDBB-4FA5-A545-79BF5608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06 / SQL 实施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B8D6F-8871-4F7F-A7DA-3AEEEBC7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2650-8ADE-4831-B4D2-892791E4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SQL 文件可以直接验收：建库、插数、建视图、跑查询。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AE9B-9788-4F50-B39B-5D20E96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4AE4-E534-43A4-B543-EBD81D71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DATABASE campus_secondhand;</a:t>
            </a:r>
          </a:p>
          <a:p xmlns:a="http://schemas.openxmlformats.org/drawingml/2006/main">
            <a:pPr algn="l">
              <a:defRPr sz="1350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TABLE users / products / orders ...</a:t>
            </a:r>
          </a:p>
          <a:p xmlns:a="http://schemas.openxmlformats.org/drawingml/2006/main">
            <a:pPr algn="l">
              <a:defRPr sz="1350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CREATE OR REPLACE VIEW v_on_sale_products AS ...</a:t>
            </a:r>
          </a:p>
          <a:p xmlns:a="http://schemas.openxmlformats.org/drawingml/2006/main">
            <a:pPr algn="l">
              <a:defRPr sz="1350" b="0">
                <a:solidFill>
                  <a:srgbClr val="EAF6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6F5"/>
                </a:solidFill>
                <a:latin typeface="Consolas"/>
                <a:ea typeface="Consolas"/>
                <a:cs typeface="Consolas"/>
              </a:rPr>
              <a:t>SELECT product_id, title, price FROM v_on_sale_products;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CA6B3-45AB-473A-9C49-56ED4D6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D23BA-C17B-4EE3-843E-B96DB847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F4BDB-DA2C-41D3-9C0A-8147C8F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FFC23-4672-4B6A-9F61-14DD841C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85057-4188-44C9-98B5-FB95025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146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覆盖教材、鼠标、耳机、收纳箱等真实校园闲置物品。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6E89F-EAEB-445F-8581-B09565A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950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892ED-12B8-4495-A160-193EC4FE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5FD49-E007-426A-AF66-B8A5C63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0FBE5-3908-44F3-8B36-0EEA6936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5760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889A2-5E33-49AC-8E4D-D2F21C2F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1480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支持在售商品检索、用户订单查询、未读消息统计、分类商品统计。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1FA96-5DC3-44ED-90A1-84E8A778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965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31492-12BF-4660-A586-1E156B5A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F6578-E1CD-4E47-A7E3-3E6380D7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01776-F419-4E95-9877-2961DA4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3505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测试语句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9FFB0-0ED8-4A07-AA9A-E072EBEA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314950"/>
            <a:ext cx="350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文件末尾保留预期失败的完整性测试，证明约束确实生效。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DB485-8A35-43F7-9C96-B504BFD9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03A9F-EAE3-4093-937D-6BDB1DF1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FBD56-EB6C-4CF9-BB82-C82E8E0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8956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9B6DC-5FA9-4237-A184-B1121F3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9887-6C80-4B2F-853D-8C51254E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A660E-CB1A-43FE-8912-B6CC6DE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1D644-B450-4A79-B227-707EEC9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07 / 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C1B0E-86C6-481E-9A36-2DF735F4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B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C25C2-2737-4817-ADB1-2E556564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这套设计能支撑后续真实系统开发，而不是停留在图上。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4644C-1BC2-45D9-BB41-605D8192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068DD-5938-4E8D-BF69-06A48E6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89EE7-7E8C-4872-BE61-2DF39C4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1E7DE-4982-4746-9BC2-7BF9A350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DF755-ADA8-4315-A213-FC6024D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完整报告、精美 ER 图、可执行 SQL、详细说明书、答辩 PPT。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DFB97-99FD-4B34-93BC-EAB480E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FA01E-6444-4EE5-AA97-7C883BA6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B6D6D-1CD9-44E0-8298-4D09AD2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1DC74-E4D7-4D30-ACCB-9AF3C46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28875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设计价值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15879-BB45-4F2D-A281-9FB349D4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86075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既满足课程要求，也考虑真实业务约束、数据完整性和后续扩展。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7E565-8759-47E0-84F2-7E59099F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84347-95E0-4227-AB5E-56294508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A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4E8C3-9C5F-4C35-9B06-2683C34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5FC35-B151-4FE3-95B4-6F6A24B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可扩展方向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9B041-5613-46A8-AE61-EBE191F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86075"/>
            <a:ext cx="2647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管理员审核、举报申诉、退款记录、日志审计、商品推荐。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358BE-1D02-4D41-ADC7-F766D9C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答辩重点：讲清“为什么选这个题、为什么这样拆表、数据库如何保证现实交易不出错”。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2ADC1-D194-458D-8D20-F1609B61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668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67D33-D3FC-4045-A9AC-13F99E99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校园二手交易平台数据库课程设计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A2FD1-1069-4489-9A88-B00DC62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53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B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88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2026-05-17T02:28:59.0790000Z</dcterms:created>
  <dcterms:modified xsi:type="dcterms:W3CDTF">2026-05-17T02:28:59.0800000Z</dcterms:modified>
</coreProperties>
</file>