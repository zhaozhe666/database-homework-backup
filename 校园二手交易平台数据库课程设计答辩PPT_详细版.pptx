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a5704b4964bf9" /><Relationship Type="http://schemas.openxmlformats.org/officeDocument/2006/relationships/extended-properties" Target="/docProps/app.xml" Id="Ra092f84dc9064512" /><Relationship Type="http://schemas.openxmlformats.org/officeDocument/2006/relationships/officeDocument" Target="/ppt/presentation.xml" Id="Red0fa13b8325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2d30a9e33b45e3"/>
  </p:sldMasterIdLst>
  <p:notesMasterIdLst>
    <p:notesMasterId xmlns:r="http://schemas.openxmlformats.org/officeDocument/2006/relationships" r:id="R7bb2cc6ab483476c"/>
  </p:notesMasterIdLst>
  <p:sldIdLst>
    <p:sldId xmlns:r="http://schemas.openxmlformats.org/officeDocument/2006/relationships" id="256" r:id="Rdc18a42d6f7b40bf"/>
    <p:sldId xmlns:r="http://schemas.openxmlformats.org/officeDocument/2006/relationships" id="257" r:id="R1d0c270e9abc41d6"/>
    <p:sldId xmlns:r="http://schemas.openxmlformats.org/officeDocument/2006/relationships" id="258" r:id="R52baef280b3d43e5"/>
    <p:sldId xmlns:r="http://schemas.openxmlformats.org/officeDocument/2006/relationships" id="259" r:id="R6b08c241d9f44dd4"/>
    <p:sldId xmlns:r="http://schemas.openxmlformats.org/officeDocument/2006/relationships" id="260" r:id="Ref610d305c7a4bb3"/>
    <p:sldId xmlns:r="http://schemas.openxmlformats.org/officeDocument/2006/relationships" id="261" r:id="R28d032d90cc541ee"/>
    <p:sldId xmlns:r="http://schemas.openxmlformats.org/officeDocument/2006/relationships" id="262" r:id="Rf2ab54fcf09c499e"/>
    <p:sldId xmlns:r="http://schemas.openxmlformats.org/officeDocument/2006/relationships" id="263" r:id="Rd809eb93212e4b5a"/>
    <p:sldId xmlns:r="http://schemas.openxmlformats.org/officeDocument/2006/relationships" id="264" r:id="R7362aadf17964f73"/>
    <p:sldId xmlns:r="http://schemas.openxmlformats.org/officeDocument/2006/relationships" id="265" r:id="R212e031745d7453d"/>
    <p:sldId xmlns:r="http://schemas.openxmlformats.org/officeDocument/2006/relationships" id="266" r:id="Ra565f5e48aa24014"/>
    <p:sldId xmlns:r="http://schemas.openxmlformats.org/officeDocument/2006/relationships" id="267" r:id="Rc051ac646c4c4d61"/>
    <p:sldId xmlns:r="http://schemas.openxmlformats.org/officeDocument/2006/relationships" id="268" r:id="R1629af52166b42e0"/>
    <p:sldId xmlns:r="http://schemas.openxmlformats.org/officeDocument/2006/relationships" id="269" r:id="Raaf2abfaf7074a4d"/>
    <p:sldId xmlns:r="http://schemas.openxmlformats.org/officeDocument/2006/relationships" id="270" r:id="R411f521e7981494c"/>
    <p:sldId xmlns:r="http://schemas.openxmlformats.org/officeDocument/2006/relationships" id="271" r:id="R129b6bd171024f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d30a9e33b45e3" /><Relationship Type="http://schemas.openxmlformats.org/officeDocument/2006/relationships/theme" Target="/ppt/theme/theme1.xml" Id="Rf7fb4025ddb34f8e" /><Relationship Type="http://schemas.openxmlformats.org/officeDocument/2006/relationships/notesMaster" Target="/ppt/notesMasters/notesMaster1.xml" Id="R7bb2cc6ab483476c" /><Relationship Type="http://schemas.openxmlformats.org/officeDocument/2006/relationships/presProps" Target="/ppt/presProps.xml" Id="R0c8fc0d6fd73407f" /><Relationship Type="http://schemas.openxmlformats.org/officeDocument/2006/relationships/viewProps" Target="/ppt/viewProps.xml" Id="R07720781e56547d8" /><Relationship Type="http://schemas.openxmlformats.org/officeDocument/2006/relationships/tableStyles" Target="/ppt/tableStyles.xml" Id="Rb80e72dab072413d" /><Relationship Type="http://schemas.openxmlformats.org/officeDocument/2006/relationships/slide" Target="/ppt/slides/slide1.xml" Id="Rdc18a42d6f7b40bf" /><Relationship Type="http://schemas.openxmlformats.org/officeDocument/2006/relationships/slide" Target="/ppt/slides/slide2.xml" Id="R1d0c270e9abc41d6" /><Relationship Type="http://schemas.openxmlformats.org/officeDocument/2006/relationships/slide" Target="/ppt/slides/slide3.xml" Id="R52baef280b3d43e5" /><Relationship Type="http://schemas.openxmlformats.org/officeDocument/2006/relationships/slide" Target="/ppt/slides/slide4.xml" Id="R6b08c241d9f44dd4" /><Relationship Type="http://schemas.openxmlformats.org/officeDocument/2006/relationships/slide" Target="/ppt/slides/slide5.xml" Id="Ref610d305c7a4bb3" /><Relationship Type="http://schemas.openxmlformats.org/officeDocument/2006/relationships/slide" Target="/ppt/slides/slide6.xml" Id="R28d032d90cc541ee" /><Relationship Type="http://schemas.openxmlformats.org/officeDocument/2006/relationships/slide" Target="/ppt/slides/slide7.xml" Id="Rf2ab54fcf09c499e" /><Relationship Type="http://schemas.openxmlformats.org/officeDocument/2006/relationships/slide" Target="/ppt/slides/slide8.xml" Id="Rd809eb93212e4b5a" /><Relationship Type="http://schemas.openxmlformats.org/officeDocument/2006/relationships/slide" Target="/ppt/slides/slide9.xml" Id="R7362aadf17964f73" /><Relationship Type="http://schemas.openxmlformats.org/officeDocument/2006/relationships/slide" Target="/ppt/slides/slide10.xml" Id="R212e031745d7453d" /><Relationship Type="http://schemas.openxmlformats.org/officeDocument/2006/relationships/slide" Target="/ppt/slides/slide11.xml" Id="Ra565f5e48aa24014" /><Relationship Type="http://schemas.openxmlformats.org/officeDocument/2006/relationships/slide" Target="/ppt/slides/slide12.xml" Id="Rc051ac646c4c4d61" /><Relationship Type="http://schemas.openxmlformats.org/officeDocument/2006/relationships/slide" Target="/ppt/slides/slide13.xml" Id="R1629af52166b42e0" /><Relationship Type="http://schemas.openxmlformats.org/officeDocument/2006/relationships/slide" Target="/ppt/slides/slide14.xml" Id="Raaf2abfaf7074a4d" /><Relationship Type="http://schemas.openxmlformats.org/officeDocument/2006/relationships/slide" Target="/ppt/slides/slide15.xml" Id="R411f521e7981494c" /><Relationship Type="http://schemas.openxmlformats.org/officeDocument/2006/relationships/slide" Target="/ppt/slides/slide16.xml" Id="R129b6bd17102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1ade340fc244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ef7c158ec9406e" /><Relationship Type="http://schemas.openxmlformats.org/officeDocument/2006/relationships/notesMaster" Target="/ppt/notesMasters/notesMaster1.xml" Id="R31b9e817be98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63d94063d34e6e" /><Relationship Type="http://schemas.openxmlformats.org/officeDocument/2006/relationships/notesMaster" Target="/ppt/notesMasters/notesMaster1.xml" Id="R16e06ca0ce8142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0aedd9e694089" /><Relationship Type="http://schemas.openxmlformats.org/officeDocument/2006/relationships/notesMaster" Target="/ppt/notesMasters/notesMaster1.xml" Id="R1b5d9163148d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b80b607cfe4858" /><Relationship Type="http://schemas.openxmlformats.org/officeDocument/2006/relationships/notesMaster" Target="/ppt/notesMasters/notesMaster1.xml" Id="R60ff165baa3b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bfd8c7e0d4b1e" /><Relationship Type="http://schemas.openxmlformats.org/officeDocument/2006/relationships/notesMaster" Target="/ppt/notesMasters/notesMaster1.xml" Id="R698599b7a3b6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410e2cbf54d7f" /><Relationship Type="http://schemas.openxmlformats.org/officeDocument/2006/relationships/notesMaster" Target="/ppt/notesMasters/notesMaster1.xml" Id="R41d0fa6b72eb46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eb117c36cf461c" /><Relationship Type="http://schemas.openxmlformats.org/officeDocument/2006/relationships/notesMaster" Target="/ppt/notesMasters/notesMaster1.xml" Id="Rd1884a7136094d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4a67e794124151" /><Relationship Type="http://schemas.openxmlformats.org/officeDocument/2006/relationships/notesMaster" Target="/ppt/notesMasters/notesMaster1.xml" Id="Rec83fa90609143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5c8469ac134b44" /><Relationship Type="http://schemas.openxmlformats.org/officeDocument/2006/relationships/notesMaster" Target="/ppt/notesMasters/notesMaster1.xml" Id="R4a35fbe2cba948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acaa63216641a4" /><Relationship Type="http://schemas.openxmlformats.org/officeDocument/2006/relationships/notesMaster" Target="/ppt/notesMasters/notesMaster1.xml" Id="R5d2d48cdccde4f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d093dc70174440" /><Relationship Type="http://schemas.openxmlformats.org/officeDocument/2006/relationships/notesMaster" Target="/ppt/notesMasters/notesMaster1.xml" Id="R7a13eccdf0ae4c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5d86599e984cd5" /><Relationship Type="http://schemas.openxmlformats.org/officeDocument/2006/relationships/notesMaster" Target="/ppt/notesMasters/notesMaster1.xml" Id="R15c80c580b6343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3f4523a53d4aaf" /><Relationship Type="http://schemas.openxmlformats.org/officeDocument/2006/relationships/notesMaster" Target="/ppt/notesMasters/notesMaster1.xml" Id="R99b272ae11274e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0cad7816a24f86" /><Relationship Type="http://schemas.openxmlformats.org/officeDocument/2006/relationships/notesMaster" Target="/ppt/notesMasters/notesMaster1.xml" Id="Ra27a2f77ba034d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11db9b25004803" /><Relationship Type="http://schemas.openxmlformats.org/officeDocument/2006/relationships/notesMaster" Target="/ppt/notesMasters/notesMaster1.xml" Id="Rab5f89ce2c174d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85070d326d4872" /><Relationship Type="http://schemas.openxmlformats.org/officeDocument/2006/relationships/notesMaster" Target="/ppt/notesMasters/notesMaster1.xml" Id="Rb0f76618b305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a922127e048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cb1b4dce0bc431f" /><Relationship Type="http://schemas.openxmlformats.org/officeDocument/2006/relationships/slideLayout" Target="/ppt/slideLayouts/slideLayout2.xml" Id="Rd2c888d74fb340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888d74fb340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1050ba56a64fa5" /><Relationship Type="http://schemas.openxmlformats.org/officeDocument/2006/relationships/image" Target="/ppt/media/image.png" Id="Rac43d89ae6774a6b" /><Relationship Type="http://schemas.openxmlformats.org/officeDocument/2006/relationships/notesSlide" Target="/ppt/notesSlides/notesSlide1.xml" Id="R90e8b1d3e85e4e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6f0f7fefaf49e5" /><Relationship Type="http://schemas.openxmlformats.org/officeDocument/2006/relationships/notesSlide" Target="/ppt/notesSlides/notesSlide2.xml" Id="R79334d7ef45d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689dab47e44ae" /><Relationship Type="http://schemas.openxmlformats.org/officeDocument/2006/relationships/notesSlide" Target="/ppt/notesSlides/notesSlide3.xml" Id="R869c3b04c75b48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56754d89e046aa" /><Relationship Type="http://schemas.openxmlformats.org/officeDocument/2006/relationships/notesSlide" Target="/ppt/notesSlides/notesSlide4.xml" Id="Rd46756a0e47b42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0bc31eb9741a4" /><Relationship Type="http://schemas.openxmlformats.org/officeDocument/2006/relationships/notesSlide" Target="/ppt/notesSlides/notesSlide5.xml" Id="R0bfac92f97ab4f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1e1e74bd9d436c" /><Relationship Type="http://schemas.openxmlformats.org/officeDocument/2006/relationships/notesSlide" Target="/ppt/notesSlides/notesSlide6.xml" Id="R9bab71cd50ad43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deb2845ea4d53" /><Relationship Type="http://schemas.openxmlformats.org/officeDocument/2006/relationships/image" Target="/ppt/media/image2.png" Id="R79856fc3709e47c8" /><Relationship Type="http://schemas.openxmlformats.org/officeDocument/2006/relationships/notesSlide" Target="/ppt/notesSlides/notesSlide7.xml" Id="R3b4fcfeb8b9840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9335d1f1444bb" /><Relationship Type="http://schemas.openxmlformats.org/officeDocument/2006/relationships/notesSlide" Target="/ppt/notesSlides/notesSlide8.xml" Id="R44264f0e1a5b47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3aeadd17af48b8" /><Relationship Type="http://schemas.openxmlformats.org/officeDocument/2006/relationships/notesSlide" Target="/ppt/notesSlides/notesSlide9.xml" Id="R027e0fc2cdb0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f2289696db4a8e" /><Relationship Type="http://schemas.openxmlformats.org/officeDocument/2006/relationships/notesSlide" Target="/ppt/notesSlides/notesSlide10.xml" Id="R67e5596213b34d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9c0ca80c9a41d6" /><Relationship Type="http://schemas.openxmlformats.org/officeDocument/2006/relationships/notesSlide" Target="/ppt/notesSlides/notesSlide11.xml" Id="Reda65e07521f47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ff88502da48bd" /><Relationship Type="http://schemas.openxmlformats.org/officeDocument/2006/relationships/notesSlide" Target="/ppt/notesSlides/notesSlide12.xml" Id="Ra26b9a695f6145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0144ebc0064672" /><Relationship Type="http://schemas.openxmlformats.org/officeDocument/2006/relationships/notesSlide" Target="/ppt/notesSlides/notesSlide13.xml" Id="Rafa25128c91347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e9114d8c54a96" /><Relationship Type="http://schemas.openxmlformats.org/officeDocument/2006/relationships/notesSlide" Target="/ppt/notesSlides/notesSlide14.xml" Id="R4e23f58cde7443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27c44283b64f99" /><Relationship Type="http://schemas.openxmlformats.org/officeDocument/2006/relationships/notesSlide" Target="/ppt/notesSlides/notesSlide15.xml" Id="R5df2cc0395c448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41660e612484d" /><Relationship Type="http://schemas.openxmlformats.org/officeDocument/2006/relationships/notesSlide" Target="/ppt/notesSlides/notesSlide16.xml" Id="Rd422e7e9b76549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3d89ae6774a6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B2FED-5103-42C4-B902-F6599EB0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>
              <a:alpha val="6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94FF7-4958-4607-B4F7-9A768E00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E8E5"/>
                </a:solidFill>
                <a:latin typeface="Microsoft YaHei"/>
                <a:ea typeface="Microsoft YaHei"/>
                <a:cs typeface="Microsoft YaHei"/>
              </a:rPr>
              <a:t>数据库课程设计详细答辩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02416-5895-480F-8DE2-75EBE79D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校园二手交易平台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9D1B4-828C-4718-A327-B4627C5D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E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1E4C7"/>
                </a:solidFill>
                <a:latin typeface="Microsoft YaHei"/>
                <a:ea typeface="Microsoft YaHei"/>
                <a:cs typeface="Microsoft YaHei"/>
              </a:rPr>
              <a:t>从真实业务需求到 ER 建模、SQL 实施、完整性测试与系统扩展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742DE-B9D1-4120-8859-53AACEB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CFB47-43CE-4E28-AFE8-D32738A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E72B2-370E-474B-A157-6B31744E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12EFD-ACAC-4917-945C-4FF53B1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624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B0F80-3165-42E5-AC9B-0BD0B6D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91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10 张业务表、2 个视图、完整样例数据。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E963D-908C-4501-A250-170A7E00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33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2F114-1328-4C47-9E49-4271F90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ADC5-8A45-4DFF-AA44-9CBBF646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1CB6B-0F13-43CB-A8FD-766DA04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624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FDD76-3B15-4EEB-8CA7-D4FEFDC5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911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用户、商品、订单构成交易主线。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DFB4-BA97-4942-8C7A-4699CA36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43830-DDAB-4BEA-9C14-FB7163BC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80894-2074-4A27-871A-68902B6E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729FC-E2D6-4A9C-8EBE-4C9448D9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624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9074F-AA88-4C71-B4F4-309C6A34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911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数据库约束直接对应现实交易风险。</a:t>
            </a:r>
          </a:p>
        </p:txBody>
      </p:sp>
    </p:spTree>
    <p:extLst>
      <p:ext uri="{BB962C8B-B14F-4D97-AF65-F5344CB8AC3E}">
        <p14:creationId xmlns:p14="http://schemas.microsoft.com/office/powerpoint/2010/main" val="19947388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7AA78-8794-49A0-A34F-33254915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45A60-9ADC-4ECD-8D49-74E1AA4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2F160-E8D3-4F03-90D2-951E959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334AE-128A-4E1D-AF3E-B068028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目录 / 汇报结构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D2F71-232D-4940-8C2B-A585260F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963A2-09BD-43DD-82FC-0A60D8AA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详细版按“为什么做、怎么设计、如何验证”展开。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2ACC4-0881-4AE7-8AB5-1CCF6B0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EFC59-C07F-49FE-9524-A3E5CC4A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336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3FE34-61B9-47E9-8950-CB512F5F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90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8C355-6DE5-4009-868E-AEF3156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校园闲置交易真实存在，传统群聊方式缺少结构化数据。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B5B13-CE21-4450-93AC-3787C5D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9A1CD-C8D7-4A23-BB23-C67A00F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241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AB4A2-3679-4B67-9362-327D23C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需求与角色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6BEA4-7F1A-4D99-87CC-1B15A70F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梳理普通学生、买家、卖家、管理员扩展角色。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BEE12-489A-4E93-8938-6BF28863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718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32E6A-13F0-40BF-88CB-63035C6A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147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ABCD2-65B9-49A3-90DD-86E3F1C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流程与 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FCD41-A3C8-48F4-B519-D567B01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从交易链路推导实体和关系。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1FAF0-11E7-4A65-9C83-06B518F2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24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91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17AD0-9791-4F20-A34A-2CA92A59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05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83325-55AB-43CC-835C-309D2A6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62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表结构与约束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91A1B-CB77-4F69-AF83-06DB497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讲清每张表的职责和数据库层约束。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15D33-3C78-465A-BACB-8AF5A58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7CBBE-86A7-4514-995D-DC65C126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958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FB3BC-0F59-4496-B886-CDC0238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SQL 与测试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E38AF-7E5B-4D8D-8206-BC18CD7A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展示建表、样例数据、视图、查询和完整性测试。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2C908-84B6-43F2-A524-E02BA245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912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72E48-8757-4ED9-92D2-3D8EC75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863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4DBB9-4BCE-4BFC-8C50-844E042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总结与扩展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93093-294E-4FED-9A36-2CC505E2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625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说明价值、不足和后续可扩展方向。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59ABE-3657-4B61-9C55-E5F92C4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B757F-61AE-4252-9E56-3700149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4355F-8197-4081-A39D-1564EF35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05186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AA842-78E7-473B-8578-0C02B167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F63F6-E514-43E4-8DA4-25FF6D43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F9DCD-BFA0-4167-B457-AD81027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4E2A8-4CD6-472A-965A-E103883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01 / 现实背景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3CD2D-0C79-4975-A0D8-DEFDE80F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0351B-9EF8-4339-AF87-5E02E69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校园二手交易不是虚构题，而是高频、低金额、强校内信任的真实场景。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DF348-5136-4DA0-AE67-6D84CD0A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46CF6-E960-4F7F-9B59-632278B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76699-9704-473E-9102-7E16AF3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34024-4FE2-4BF0-83D9-0701F6D6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物品来源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48FC8-4D4D-4425-9B2D-9A0C4BA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课程结束后的教材资料、毕业季生活用品、电子配件和宿舍收纳物品都会产生闲置。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4D67F-1FFD-4B18-AA41-1F307E78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193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94392-A51A-4372-915B-1669FDAA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915A1-935B-4B48-93A8-E8CAACA8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BED48-DD5F-495A-A3E2-A2CB2A3B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交易特点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AD58E-1927-477F-B245-F05FA86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金额不高，但需要线下交接；交易双方通常同校，校区和宿舍区域很重要。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67C54-FBAD-4D67-9FAF-68F70B0E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9BFA2-2172-4AF2-AC5F-5EC8F279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97E50-A0C1-4D1A-ACAD-56A5B38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27C0B-5EFF-4DB8-8CA2-0C9EF01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62CAF-81FA-4033-AD1C-D7BBE45F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微信群信息刷屏，商品是否已售不清楚，沟通和评价没有沉淀。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265CB-DFC4-401C-B831-D41AA9E7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193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903AD-01F5-4F7D-8E67-DDF026CC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AA4CB-F91E-4D7C-B7DD-87A86373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70048-A34A-4B28-B52E-FAC1CF13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数据库价值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29C649-A517-4F8D-816C-5B096E55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把商品、订单、支付、评价结构化，才能查询、追踪、约束和统计。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5FF66-591E-4BF0-8D10-4B1E0F63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选题判断：业务足够现实，数据实体足够丰富，适合做数据库课程设计。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563DA-3857-4BCD-8E22-D82B560F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0F13D-B0CB-48CE-989C-2625DDFE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66154-6B44-42B6-ACBE-11608681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78748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DC9A7-EA76-4EFD-8130-233D15B6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83DDA-513E-408B-BD8C-30E38EA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77D58-25FC-457A-8DF8-83495C57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A61A5-4EB9-48A3-9A7D-88DA10AD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02 / 需求分析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79E91-2C4D-4544-8C92-3EF76F8A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09E3-F6DD-4AFB-B7B9-1AA1F25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系统目标是让闲置交易从“群聊信息”变成“可管理的数据流程”。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4153D-8410-44C0-9D31-8C6FCD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D2324-BBAF-40DF-B30C-C4BCC85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F0001-180A-43A6-A7F0-672105D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703DE-B475-4D2F-BDBD-64547A8A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622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C7373-E53B-4F81-BFC6-A48E6CB3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708B5-4406-41C8-B795-72743B30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数据库需要记录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B8EBC-D2E3-4F9B-8565-F3A589F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97C26-A896-4EB4-A205-3504046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A755B-B2EC-4245-B300-249B016B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F0891-ECDB-448E-9142-96950AE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337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注册、登录、维护联系方式和校区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F1BA-372E-4B1F-85D6-64BC9B4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29705-D866-4AED-B5CC-A861D83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337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学号、手机号、校区、宿舍区域、信用分、账号状态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5A8B3-9C3A-4C0E-8041-4469C100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A6E50-56AF-4121-AAED-8CF52864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商品管理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89EA1-27DC-4101-96AC-3E404BF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6BDEA-185A-47DC-AA37-ADDAE11E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发布、下架、修改价格和状态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7867E-292C-42EC-B1DA-A7A5A00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559EF-1D2D-486E-8895-1B5379ED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052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分类、标题、描述、价格、成色、交易地点、图片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1AB1E-A643-4985-AE9D-A0DD8B64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E13FB-DA51-4F58-9EFD-9C39B76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互动沟通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91FC5B-5DDB-4223-ACCB-6938C55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81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793352-BE5B-4AE7-BF30-FCC52A7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收藏商品、向卖家咨询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8FEDB-AA3D-495B-84A7-9D0A463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81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B1A0F-32E6-455E-BC45-411DE5A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收藏关系、消息发送人、接收人、商品上下文、已读状态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CDD1E9-A307-4517-87A7-94825BE0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E52613-0496-400F-A669-0D435DFA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订单支付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8061B-58E2-4CF1-A76D-EC3262AE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21FFDF-9939-4835-888D-EE94F53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482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下单、支付、完成或取消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B8D71-A33A-481A-9DA6-88DCD4BA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52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ACA1EC-F87C-4A6B-8845-F5DEA114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482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订单号、买卖双方、明细、金额、支付流水和状态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D22641-A62B-4335-8238-3D287E8E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96861-BA5B-4A92-8326-6907E5DA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评价反馈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43A0FE-3BF1-4FAB-8CE5-C68349E1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24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D8F772-AC20-497F-8F7C-652CEA2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交易后互评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802941-B5E8-4152-BA3A-50696409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24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D1EE6F-66D1-4A82-BADD-CE71B622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197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评价人、被评价人、评分、文字评价、对应订单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B1D7D5-41B5-462D-8BFD-099FC008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FB2986-2958-4C5D-A553-1ADA5CD6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08D71A-1FAD-4397-9E40-A7E6172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2748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29243-3C74-4225-BBC3-473C7B8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18D88-ACA4-4CF3-89F3-FDEBAC6D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E354B-7E36-42B6-A9C3-8364C496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31B43-6B9D-4E31-B7B3-0104EA47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02 / 用户角色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32564-A925-4A26-A975-E49E0E90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AC06-D1E5-4B2C-8739-04A4AA6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角色不需要复杂，但每个角色都要能落到数据表。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D0F26-F1A9-48EE-B9F1-789B566A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9077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0C4FA-34B7-43AD-B9A3-74FA89FD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AFE8D-6DEF-4943-A56A-F0A39BD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45A53-4B77-4434-8116-3297D626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普通学生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AF432-7B9E-4E51-9F5E-2913FC2C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注册登录、维护资料、浏览商品、收藏、沟通、下单和评价。</a:t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对应 users、favorites、messages、orders、reviews。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3FEBE-BEB0-4B24-A849-E33A713C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25124-9B56-4DB8-8F87-7C5C0A3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BC9EF-BF3C-47F7-A109-C0CC005C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9D29B-DDB7-451E-B9C9-C8BF57A6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193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卖家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6D853-F42E-4D0A-A7FD-93165C4F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47975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发布商品、维护状态、协商地点、查看出售订单。</a:t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对应 products、product_images、orders。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C1ABA-FFDD-4BD4-8E9A-BC5C94C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9077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492F2-E4CA-4010-90B0-FBE3D198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6E8F9-3454-4321-B136-99365AB4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E6673-B7C2-46D9-8953-133C223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CA073-E76A-4B06-AC63-9AC03FF8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检索商品、收藏意向、沟通、支付和确认完成。</a:t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对应 favorites、messages、payments。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C3FC2-3EA0-4B97-A02B-1EA35AE7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9077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BC3EE-F2C4-408E-BD64-9234EDF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C1149-B8A1-4A21-AA7A-0BC2FD3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F68AB-0FBA-4587-A17A-7A4CC76F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193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AA07B-E29F-4100-BA68-4E9FD52B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47975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审核商品、处理举报、冻结用户、查看日志。</a:t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当前表预留 status，可后续扩展 reports、audit_logs。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BC254F-6E63-499A-B224-CCCD943A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同一个学生既可能是买家，也可能是卖家，所以 users 不拆成 buyer/seller 两张表。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23ABB-84B1-42C2-8A6C-1643D537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EBDEB-740D-4469-98CC-B92956E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E18E3-3370-490F-8EC5-F7D736E5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35627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A99F0-CFE6-4142-B262-E6B68DCB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6BC1-41BC-46E8-8029-608EC7A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F29A4-4A85-4D66-98E1-8561A827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8EF83-E139-46F5-B119-4B3FF7D4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03 / 业务流程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3D7D8-1149-4B0F-91F5-0660EE07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B50F5-41F5-4F65-89B5-0A98645B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业务流程决定表结构：每一步都必须有数据承接。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1D8E6-3E71-4CC4-B744-7E12456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12FA0-C0B8-470F-8313-55FE133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注册认证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D5F5-76C9-46C6-BD77-83C4C07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768F0-F3F3-4FFA-8B19-01848ADD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575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B3CA7-3F73-4F29-849A-EF238905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981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0A2FC-E336-45F5-828F-97A14351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31174-E595-436A-8CEF-302ED7A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发布商品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20C13-80E1-4DC5-902C-F5A00CBC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products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C8394-A5FC-43B5-8E6E-84727938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0BEB7-B57B-47C7-B018-2402EE7C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81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31874-2B4D-472F-A27B-1729603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68226-FAA0-425F-8B13-82E65D9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上传图片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93BB1-5E9E-4002-8328-21BF2F4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product_images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E81EA-88EF-445E-90EF-1234F2F0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575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DFA98-5177-4745-A962-FA9A6955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81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4BF47-B453-4F2B-9E78-D4F1B3AF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6308C-E7B6-44E5-B413-5950A3C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沟通收藏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3AC16-2226-4A66-A20B-F27F00BD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messages / favorites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51657-CF2E-4214-AF70-ABC9F48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575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E40F1-5217-474F-97A7-EDB6EEDD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81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A31F6-765B-4524-ACB1-79EC16F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E0F4F-3CF7-40EE-AFBE-3784A505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创建订单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A2B08-2256-4E13-8936-8E49FDD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orders / order_items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2FC40-DBBB-4334-9E01-FBB0A37B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575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CF430-A945-44E3-AD6D-ABE4E6BB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981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0ACBE-F1C8-48B5-8D79-A4F9A7D3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EA16C-8916-4E78-A892-8B3E7F1B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支付记录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31EAB-F997-4E10-8E7D-212D040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payments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63EBE-570B-4FA2-BFB3-4B298697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191AAA-11A8-486E-AF8E-E90FC2F0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981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1360ED-F8E0-49F6-9DB5-1228D55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575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899010-C22E-4363-95EA-59F734F7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62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完成评价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348FBE-2C55-4C13-9851-CDA13BA5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48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reviews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DB24D6-76FC-4013-8276-80CF9AF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04D63-34F4-463D-A0BD-3F3C81C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设计结论：ER 图不是先画出来的，而是从业务链路推导出来的。链路中每个关键动作，都要能在数据库中留下可查询记录。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F88D1-7174-4E29-A962-A6B3F08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07AB01-E96C-4DCA-99AD-7B9E97A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02994A-7EE9-4443-A084-2FD3352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42763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EB375-AEA5-4038-90A4-2CF08435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6935C-4820-41E8-95AB-88DD9D0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6E94E-4248-4987-91B6-A8E05C01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80A04-14FD-4B79-B12E-0F3992F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03 / ER 模型总览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894B9-B7D7-4CF7-8594-3CE45EE2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6008E-79D0-4017-BFFE-D530CFDC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10 张表覆盖完整交易闭环，核心围绕用户、商品和订单展开。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E53FF-CE6A-4A39-B6B6-DF2C3AC8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ER 图用于说明实体和关系；答辩时先讲核心三张表，再讲图片、收藏、消息、支付和评价。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56fc3709e47c8"/>
          <a:stretch xmlns:a="http://schemas.openxmlformats.org/drawingml/2006/main"/>
        </p:blipFill>
        <p:spPr>
          <a:xfrm xmlns:a="http://schemas.openxmlformats.org/drawingml/2006/main">
            <a:off x="2819400" y="20955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5D8B3-BEEA-4AD7-9D33-3E27F4B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8C235-ABE2-4DD8-97ED-CABBF5F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D978C-394D-48EF-BD68-E721BB5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97005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80120-7809-4573-AD12-8B770C2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4BF1-6A00-4E7D-8CF7-D9F4ECC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AAAAE-684D-43BA-A57C-BD4DCFD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01015-0B9B-4F18-B692-6CBB9F7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 / 核心表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28FC7-75E9-4710-A55E-38943C0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2030E-0DF6-458B-B999-9847C642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users 表是平台身份基础，不能只存昵称。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C2FFE-9BC8-455E-BDDB-14235AC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73F21-792F-4E9A-BC01-04CEEC0A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A05EF-52E4-457C-BD03-E331B4FA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1171C-4B0F-4744-94AD-F8C606D9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C485C-08B9-4C79-837F-7F3CD25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02BF9-6C2A-4242-9281-847C292B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622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现实原因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9DEC2-1E1E-40A2-9964-F96369B5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C3034-429F-4161-982A-EC429D9B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student_no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1FEBB-1801-43F3-977D-E9F0BB38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B507A-0161-4242-A7F2-4B40A4A6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学号，唯一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2A52A-6757-41E5-B681-2A54A7C5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29059-10D5-4E96-8BC7-8DE111C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337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用于校内身份识别，避免一个学生重复注册。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69BE5-FF91-4377-8E53-5AC7B7D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70A93-1355-454D-9857-97588F74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phone / email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FCAA6-B170-455F-A98C-7F677D9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2961A-14FB-4590-AF47-826FA284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052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联系方式，手机号唯一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E49A2-FD17-4638-980A-D6420B2F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AA253-49FE-4893-A540-17537F47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052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交易沟通和找回账号需要稳定联系方式。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C793D-30EB-492B-B322-1094DF6D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0AD4C-1E6D-4BE5-9673-B0336006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campus / dormitory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05E90-30B4-44A9-87C5-A6226543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2F7F2-4887-4A6C-8277-FA31EB7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76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校区和宿舍区域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9F3C5-C2CE-4F7B-B635-C0348E5F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A95F7F-BE0C-4E54-9F86-BA9B21CB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线下交接依赖地理位置，买家会优先同校区。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B1389B-62B0-4F48-AD13-A31C5CEC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73AA92-11AE-4642-9922-4621239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credit_score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758D5-3F86-405C-844A-41A8388D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14EDF9-1766-4CFD-9D2C-E17C09C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信用分 0-100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71632-52FD-43EE-9BCD-D46A21F4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52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951509-38AC-49E0-A618-3BAB58B9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482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为后续信用评价、违规限制预留基础。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835185-67E9-4858-8982-D1C2E74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7532DB-29FD-4849-BBF1-F3B5668C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3138DF-0995-45A0-960A-2C033D58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24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E18138-1823-44D1-B61F-DDE6663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9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账号状态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3CD198-3D48-4880-BD26-61B5D30F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24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BE9F60-E7BA-4DAE-8B83-3EC2FCF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197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支持 active、frozen、graduated 等管理状态。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368798-FF3D-4D5C-BDEF-AAFF1F5D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B624B3-1A66-4E58-B9BE-56C4F714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F3878C-BD2C-4A63-AB59-8949190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13363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875FC-E775-46E6-A0D1-B56CF887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3681-F68A-42B6-8418-02DBE6C8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10D38-6DFA-4404-BE00-414A603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EAE1A-20CB-4717-991F-E72F184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 / 核心表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3C76C-131E-483D-A867-E6C563D3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AB8A9-8605-4FA7-B98E-5D5554E7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products 表负责商品主体，product_images 表负责多图展示。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4C4AE-5A6C-4A7A-B454-696D64D0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9077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7EF86-B531-4A49-A02D-DE003338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2CC52-640B-401A-B6A5-F0C4082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E8DCD-6EAD-4444-ABB1-CE60B233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products 商品表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ECA4F-1CB1-4526-BD1D-226B5BE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关键字段：seller_id、category_id、title、description、price、condition_level、trade_place、status。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设计理由：商品必须明确卖家、分类、价格和交易地点；status 用于区分在售、预订、已售和下架。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5F2D8-4C71-4082-A48B-236664E7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9077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35A7D-291A-4766-A465-C7566A4C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F0451-0740-4209-9A2E-52396362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264DE-24B0-434A-B00F-6993A12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product_images 图片表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57993-3270-48C7-B248-A9B8237B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关键字段：product_id、image_url、is_cover、sort_no。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设计理由：一个商品通常多张图，封面只是其中一张；独立成表比 product 表中 img1/img2/img3 更规范。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950D7-AB3B-4A1E-85B4-C4313E50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39077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C22C1-F6A7-4D93-A3F1-56A0240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F7A01-A950-48C9-8CEE-38D7F2F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016FE-AC6E-44E7-BE5C-B6EDCB2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categories 分类表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6AAC8-D59E-4127-B5F9-0369EACF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47975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关键字段：parent_id、category_name、sort_no。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设计理由：教材资料、数码电子、生活用品可分层维护，后期搜索和统计更方便。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9D272-7865-4FB8-A561-77B49EC9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E307F-7697-417F-9BB8-D9F95270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ACBEB-060F-46BD-84E4-5E1E691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82969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80D83-B70E-4B71-93EE-D166090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D367-8319-46ED-96B0-0A1B49A2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ED7CE-89E1-488E-BFA0-7DA67FA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26B8D-5D7B-443E-B7F1-862A134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 / 核心表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AFF1D-FC0A-4F34-8343-41E5E3D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848D1-79FA-4C14-8DE0-72A222C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orders、order_items、payments 分开，才能讲清交易和支付。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61C2D-08C9-4BDB-BAB3-67A9428C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51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88849-88F6-4F46-80EC-7FF8594B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96C9F-32C7-4BA1-93DF-37782FE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05AC3-71A6-4951-A9BD-6AA612D6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62200"/>
            <a:ext cx="4267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AF649-A811-4ABC-A7C0-C8D9659A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669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26B1B-2B2A-4036-AD32-AC461865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019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为什么不能合并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1E829-279F-4A4B-9A0F-E28F0A1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051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57EBB-51BF-4A77-85D3-C279B4E2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D85BC-8997-4047-9879-0DF1573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99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972BA-644A-4D54-9C42-65A7C5B4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05150"/>
            <a:ext cx="4267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记录买家、卖家、订单号、总金额、状态、交易地点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EA360-204B-4647-AAF3-963FF879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E5A5A-27B9-4272-8D88-2A741A77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4019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订单代表交易意向和状态，不等同于支付。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F3F55-F649-4DA5-8900-921E414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051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1BA6E-4A86-4CE5-A0B3-DDD2B69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order_items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A736A-9F38-4334-8D46-CC90D4DF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528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033F9-CB7B-4DA7-96BD-F164148F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4267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记录订单中的商品、成交价和数量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3BFD6-899C-4BE5-B50F-BF19738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17596-C267-4235-A920-67374742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4019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保存成交价快照，并保留一单多商品扩展能力。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82A8E-918C-4D42-9B6A-F894CE9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51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70108-6B8A-4962-9F87-C0CCFA0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600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payments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23271-FB63-433B-98EF-0175E2F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958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2F2D4-18E6-44CE-8504-B0FF816B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4267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记录支付方式、支付金额、状态和流水号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2420F-F2D5-45B1-A1FC-CA963903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958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30B431-C436-4F70-9FD1-E68B5A04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019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支付是资金行为；课程设计不保存银行卡等敏感信息。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C0A20-DB9D-4060-A05D-221C90AA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重点回答：二手商品通常一件一卖，所以 order_items.product_id 设唯一约束，避免同一商品被多个订单重复出售。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AE83A-C1D5-4586-AED4-E5C7DEB8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AA163-2DEC-4695-869C-4F063328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F833CE-17D3-46A7-A88B-6217467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2863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3B709-3C26-4D70-8558-9DCAFE16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A746E-06AC-49E0-80F9-E77A604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92356-D091-4A81-A8A0-7DE6331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4616A-3405-447D-8BDF-9C683D8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 / 互动与反馈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06D7-FF03-410E-BB84-7B4CDBA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B2E41-6902-4E3D-A278-94ED6D4F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收藏、消息、评价不是附属功能，而是让交易可信的关键数据。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AB5E9-D3F3-4512-ACC4-B3F181E1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384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5D6F6-C833-4FF1-984D-4D1E2DE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10308-76A9-484C-8CD4-9AEA2152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1E38B-C42B-467C-9CE1-72B60C07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favorites 收藏表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BFF76-5C7B-4CA7-BF38-385DEE87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同一用户对同一商品只能收藏一次。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作用：沉淀购买意向，也方便后续做热门商品统计。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9A9AA-B1FD-4F26-AA27-282993FE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EFE15-E3D5-47BF-8480-81ABC12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CDE19-FF80-43BE-BF0C-36100236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44288-6B95-43A7-9604-26E4DBE7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66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messages 消息表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70A78-9FA1-4B00-B61B-1EE86DE8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记录 sender_id、receiver_id、product_id、content、is_read。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作用：沟通围绕商品展开，可统计未读消息。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D0627-5E8C-495A-9339-3171BC5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384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C1C9F-B675-4230-ADAF-1C10B9DD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E02A6-E54E-4611-953F-2C68B8E9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00644-BEAD-4925-92E4-7B55839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66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reviews 评价表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EB10E-7825-40DA-9B4B-BB41F0F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571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评价必须关联 order_id，评分 1-5，评价人不能评价自己。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作用：避免无交易基础的虚假评价。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A81FD-CB30-4F67-8BA7-D81D28C6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FA514-BDF0-4EE0-B169-76A343D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877AA-A17F-4FCD-AF58-5BA64E50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57912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82CD57-051D-4BE3-931C-8B1B8134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7C8F0-3C15-4D1E-B847-586EB86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5F91B-926F-46BE-86BF-20A763A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0CDB8-ED79-4BD9-A494-F8E8E0C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05 / 完整性约束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89787-554B-467F-A96D-08BD43C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263ED-F020-4609-8CF4-90054165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数据库层约束直接对应现实交易风险。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33D55-6CF9-4DFE-BEE0-7244B95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A0951-A2C7-4996-AE7D-79E75EEE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现实风险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D8554-08F2-42AB-8656-8DCB644D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D79ED-D19A-4E43-8B6C-F248B31B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622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42298-5C0B-4CE0-AE1D-89A438DA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EDDE9-22E1-4EC5-85D8-5C0B40A8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638BC-CB24-48AE-8E7B-F5719233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A10BE-BD9E-4D46-9F53-C7F9CF14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重复注册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8720-1EF1-4DF3-A63D-8D3BB3D6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5BFE0-3D32-4352-A30B-FA953B7D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14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users.student_no、phone UNIQUE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B9355-13E8-458E-8EE0-B59A8ED4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BD892-7B9D-4282-A928-679EFB97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同一学号或手机号不能重复注册。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145E9-C12B-4F90-8834-FAE25707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5F3FA-64C0-4357-8992-30FBCF92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自买自卖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6626A-2573-458E-830D-0762F9E8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C8582-5941-4408-9449-127FA4B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671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CHECK(buyer_id &lt;&gt; seller_id)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F7618-8B5C-4BE0-A7D3-59F7DC2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4EF3D-6720-4203-889B-000EABB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买家和卖家不能是同一个用户。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3F29E-6BD1-4B29-B926-47EECC4D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58C70-735D-4000-993E-B1E3057C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重复收藏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6DB88-10B5-4BB7-9621-8E44DEB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539E1-A5F5-424C-80F3-D8E9F40E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195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UNIQUE(user_id, product_id)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A59BE-842E-4F74-AFD9-17E22B8A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D844B0-4225-4A3B-811B-16299E3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同一用户不能重复收藏同一商品。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31599-D1B0-4847-BF90-BDC7E370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91A54-817B-40EC-B9DA-993778F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重复出售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43D63A-27FF-48B1-9BE7-3F4E9F3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76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5BDFF8-2DF8-40B5-9AD3-11E3ADC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720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order_items.product_id UNIQUE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2C08F6-C66E-4A2F-AE4A-B86E15E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F83332-FE9A-4C8F-8571-062EF6EE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同一商品不能进入多个订单明细。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B7F309-D51D-4D60-BC77-4FB2906A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717304-2E1D-4D4C-9ED7-9DEC2304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虚假评分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340B84-662C-4778-A551-B8B7DC76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29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AFC61-A9D6-4BE2-B18E-2543344A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reviews 关联 orders，rating BETWEEN 1 AND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2403F0-62AE-41A7-8A11-8BF9951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29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C3C6D-A3B3-445A-B72A-1C71FAA7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评价必须基于订单，评分范围明确。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0AE591-AAC7-495E-86C4-5FBEE277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FCAAE6-C8EE-4A76-8BD0-B473A986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A9DDD6-6AF8-4681-87B6-635EC11B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89116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67EA5-CC21-4B31-9ECB-137AFB9A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3F9FD-2572-470E-99F7-4E073DD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AACB4-FFE2-4457-96BE-108AB12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4B4CC-E2F5-42F3-B8E4-FF2A3C20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05 / 索引与视图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2EAA0-B2C8-4544-923E-91F9E51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821B6-58A2-4304-B55E-47E5B3A7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索引服务高频页面，视图封装复杂 JOIN。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36FA3-E655-4F23-97C8-193667A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314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4B162-FC80-4F26-B8F7-DCB80FBE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C4E07-39B1-4393-A61E-7A0CCA1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D664C-FC43-4693-8713-11C5168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关键索引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2CF48-27CA-422C-AC33-5140AA3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47975"/>
            <a:ext cx="28575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idx_products_category_status：分类页在售商品筛选。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idx_orders_buyer_status：买家订单列表。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idx_messages_receiver_read：未读消息统计。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903FD-F0EB-4BAD-9B95-F27D719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90775"/>
            <a:ext cx="314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9B7D6-A87D-4A36-BF81-AF6BC0D8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0A7DE-825F-4B80-AA07-8243C295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4A417-67A2-41AA-8748-1DDFB46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业务视图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2D524-B9EB-41AB-A48E-12904F79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47975"/>
            <a:ext cx="28575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v_on_sale_products：封装商品、分类、卖家和校区。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v_order_detail：封装订单、买家、卖家、商品和成交价。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93646-DDF5-4CAE-BBC9-8D2C3E22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314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97BA4-D599-4A9A-897F-23DF10B9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4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5E1B1-642A-4608-B7E5-90E69A1D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FB57B-3310-4E1F-BA89-2BF76E97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19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90DE7-C0F7-4121-85C6-937E2557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47975"/>
            <a:ext cx="28575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应用层可以少写重复 JOIN；老师验收时也能直接查询视图看到业务结果。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B6090-1152-442A-8649-DF004D4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72B20-662F-413E-9077-BB76E2C6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90EDB-286A-4ED1-B137-628975D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02773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2CADE-D9B1-4565-A838-5675D4E4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DEA56-CB7F-43C8-AC7D-34EAA8D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38253-8921-4A40-94B9-C71C17E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A9AE-FAEA-4FA1-9810-4F7C6473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06 / SQL 实施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631E3-5C38-4D61-BBFF-A1E53E5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D83DB-54B0-494F-A899-23A895A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SQL 脚本不只是建表，还包含样例数据和验收查询。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4CDF4-2344-4283-8BD1-F655550F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4679B-18B3-404C-BD94-C183E743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6672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DATABASE campus_secondhand;</a:t>
            </a:r>
          </a:p>
          <a:p xmlns:a="http://schemas.openxmlformats.org/drawingml/2006/main">
            <a:pPr algn="l">
              <a:defRPr sz="1275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TABLE users (...);</a:t>
            </a:r>
          </a:p>
          <a:p xmlns:a="http://schemas.openxmlformats.org/drawingml/2006/main">
            <a:pPr algn="l">
              <a:defRPr sz="1275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TABLE products (...);</a:t>
            </a:r>
          </a:p>
          <a:p xmlns:a="http://schemas.openxmlformats.org/drawingml/2006/main">
            <a:pPr algn="l">
              <a:defRPr sz="1275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TABLE orders (...);</a:t>
            </a:r>
          </a:p>
          <a:p xmlns:a="http://schemas.openxmlformats.org/drawingml/2006/main">
            <a:pPr algn="l">
              <a:defRPr sz="1275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OR REPLACE VIEW v_on_sale_products AS ...</a:t>
            </a:r>
          </a:p>
          <a:p xmlns:a="http://schemas.openxmlformats.org/drawingml/2006/main">
            <a:pPr algn="l">
              <a:defRPr sz="1275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SELECT ... FROM v_order_detail;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0D585-D960-4AFA-8051-F747B262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95525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DE4A0-8DB4-44C6-B6E8-DD72D602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2E06D-C20F-4124-A775-92C6374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C45EA-7F36-423E-9933-5A58314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241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样例数据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6964C-B86D-45E5-A85D-A042CFA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5272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教材、鼠标、耳机、收纳箱，符合校园闲置交易场景。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C3EA1-7AAF-40E2-AC75-D4329DEE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43275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29E7E-B80F-423F-A365-A340D4B0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531EB-1D73-407B-82F2-ED446883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DE9C5-838F-4078-B157-C36A804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718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C02FB-6859-4EF7-B7DF-C11B9044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004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在售商品检索、购买订单查询、未读消息统计、分类商品统计。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11262-A878-4DAE-A2AA-5EF360E0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91025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2F769-EBBD-442C-896C-ACAD9094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05704-69FA-4CE0-9A9A-F047A01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7A2D6-7789-4FAC-BF2D-9EFE2EF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196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完整性测试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93CB5-EBEA-4951-98EB-572DA7B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4822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文件末尾保留预期失败语句，用来证明约束确实生效。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E0E1E-3FAD-428C-A2ED-7DF2597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E12B6-E642-420F-827E-4F285A4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360EA-BFE3-414B-A540-1654C90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747830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190AF-1CC2-449F-B12A-6865420E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F2E21-C321-43A2-8661-C048973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98D47-A751-4BC5-902B-55595551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816D2-3B84-4335-9DD2-4D8CBF0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06 / 测试方案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20500-2319-4C79-8651-EAF637E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DE8BC-9514-464C-A1A1-B17A586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测试分为“能查到数据”和“错误数据进不来”两类。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BB4CB-332D-42F6-BE77-2572CCD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FEA3A-DC48-496F-8843-E0106B38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E4E9C-0100-4C44-A3DA-4DF9A085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479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A6D88-91E1-4483-AC9E-20A545F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A1F40-A2A2-4963-94D8-7B3D735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09F91-0E92-4970-A414-078F2A0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67831-118B-4C3C-AB4A-087AC28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82154-DD4A-435E-8E1C-8EBBC2B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T-01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0AEF2-AB97-4A06-89E3-4DD4171B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4BACA-9965-4117-87D1-EC152D6D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插入重复学号用户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48E85-062F-4122-875E-CE16C98D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5D0D8-0B31-4A78-9D00-4517128A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违反 UNIQUE，插入失败。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FF310-0C30-4416-A326-51DE266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1FFC4-9EF6-4C8F-B7F7-7E3DA45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T-02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27B63-7215-419E-9585-90E1DFC9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A4F32-63A7-40BD-9CE9-0A9388E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买家和卖家设为同一人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E7309-FFDB-453F-931D-471DA7CA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347BB3-0FE2-4250-B576-0B890A1B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违反 CHECK，订单创建失败。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1EE10-9CB0-460F-BDEE-E46CFE7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53F28-2C4C-4BDD-849F-DF17FD5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T-03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95C84-0D3A-47A7-8F96-DCB44F4A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AFEAFC-8B7A-42BE-BE76-C6BBCCA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重复收藏同一商品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29E54-482A-42FC-9773-A68AD35C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73E82-68BA-4793-B969-03EE85BA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违反 UNIQUE，插入失败。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FF10E-E385-4A69-9536-E6EB099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9D8D4D-3FC8-4174-82EB-A2A821C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T-04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15BB91-0EF1-43BA-A77E-1362D696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05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90863-D3E3-400A-942E-900EE35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按关键词查询在售教材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352B61-7698-4373-AC18-C4C799A3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B03020-E739-4B08-B723-22F68BB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v_on_sale_products 返回匹配商品。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08204F-9B78-41A6-9C6E-61BC41E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52357-6BF3-46CC-A1B7-1A302DF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T-05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1EA1D-46E4-4848-BAE5-6CF6F092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96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DFDA8F-788C-4215-841C-7A5C1EB1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统计未读消息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294701-A1AE-4938-BD34-89E751E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684417-9FBE-40E0-8C69-CA0497DA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按用户返回 unread_count。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F9739C-4B1E-493F-84EC-1CD67700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B48AF4-6E04-426D-806F-62910B6A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T-06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36D948-DE26-4953-8737-3E609BBD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4A797A-D49B-4E46-8AAD-D42809FC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292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订单完成后互评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6596A8-1993-4CC9-83C4-2F97C43F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F492FE-8DCF-4DF3-A8C6-C29B151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4743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reviews 保存双方评分和文字评价。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2C5548-DDF7-4577-9686-9B35E7A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E6970-E0BF-4CF6-B28F-C2171D7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551D04-98C9-44E6-B973-57475BB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56983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A51CD5-4287-4626-9C9D-745F0AB4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A5209-EA15-4B7F-AD9F-5CDCBB3D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E5F6C-7945-4F97-8FEB-930F098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89E62-8978-4DB6-BDE4-5D1EEFA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07 / 总结与扩展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9A3E9-498F-4BD2-B7A6-5C2473C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24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45373-E400-4EFE-ADA4-479B6428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本设计能支撑后续真实系统开发，不只是完成图和表。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7B0CA-44D3-40ED-83CB-A73DCF34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C4EA4-EB89-4324-A697-4F8C8CFC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99E01-59A7-4357-9732-A663924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D1F0-2E9B-44B6-BF56-357B692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133D3-73AA-45F0-A9D9-A02618E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47975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详细报告、精美 ER 图、SQL 脚本、说明书、详细版 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覆盖需求、建模、实施和测试。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E3B1B-A257-40C4-A4A0-82F898B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9077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4A224-9125-4B4F-8AE5-E99355D5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B248C-0A33-464E-870B-7C594D1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07DCD-8801-4911-8DA2-FB19D885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设计价值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94923-2E98-46C7-9B55-235C2A5B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47975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表结构清晰，约束对应现实风险；视图和索引服务真实页面查询。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E28E0-37CB-4040-A2C5-0B37F8B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25B02-AFDE-408A-9B8E-F14AEDC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25673-D625-4020-BFF1-BA887608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FD6CE-3187-4C2E-B859-8E7A291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193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A47E8-5CDC-445E-BD69-4ED54A0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47975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管理员审核、举报申诉、退款记录、日志审计、推荐排序和信用规则。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0E96E-5070-4D55-B36B-2BEB556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答辩收束句：这个数据库设计从真实校园交易出发，用 10 张表和约束机制把业务闭环落到了可执行 SQL。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280FE-DB05-4863-A4F2-FFA11B2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28A1E-CDEA-45BB-A130-7B8D85EA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 | 详细答辩版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D3C15-355A-44B6-BD19-3A3919D7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36662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2026-05-17T02:52:01.2170000Z</dcterms:created>
  <dcterms:modified xsi:type="dcterms:W3CDTF">2026-05-17T02:52:01.2170000Z</dcterms:modified>
</coreProperties>
</file>